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8A6FF"/>
                </a:solidFill>
              </a:defRPr>
            </a:pPr>
            <a:r>
              <a:t>Architecture Knowledge Assistant</a:t>
            </a:r>
          </a:p>
          <a:p>
            <a:pPr algn="ctr">
              <a:defRPr sz="1800">
                <a:solidFill>
                  <a:srgbClr val="A0AAB9"/>
                </a:solidFill>
              </a:defRPr>
            </a:pPr>
            <a:r>
              <a:t>RAG Deep Dive — From Theory to Production</a:t>
            </a:r>
          </a:p>
          <a:p>
            <a:br/>
            <a:pPr algn="ctr">
              <a:defRPr sz="1400">
                <a:solidFill>
                  <a:srgbClr val="A0AAB9"/>
                </a:solidFill>
              </a:defRPr>
            </a:pPr>
            <a:r>
              <a:t>Architecture Team |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1.  What is RAG? — Concept, alternatives, the iceberg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2.  Our Problem &amp; Solution — Knowledge silos → Knowledge assistant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3.  Architecture — Phase 1 (local) &amp; Phase 2 (Azure-native)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4.  The RAG Pipeline — Write path (ingestion) &amp; Read path (query)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5.  Deep Dive: Each Layer — Extraction → Preprocessing → Chunking → Embeddings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6.  Retrieval &amp; Generation — Semantic search, prompt engineering, citations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7.  LLM Model Selection — GPT-4.1 family, multi-model routing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8.  Cost Analysis — Per-query, monthly, at-scale projections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9.  Bugs We Hit — 4 real production bugs with lessons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10. Evaluation — 3 metrics, quality gate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11. What We Built — 89 chunks, 4 clients, live demo results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12. Modernization &amp; Roadmap — Phase 2, gaps, advanced patterns,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What is RAG?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RAG = Retrieval-Augmented Generation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Instead of asking an LLM "what do you know?", you first FIND relevant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documents, then ask "based on THESE documents, answer my question."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The Flow: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Your PPT → Extract text → Split into chunks → Convert to vectors → Store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User asks question → Find similar chunks → Pass to LLM → Answer with citations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Key Benefit: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✅ Answers grounded in YOUR documents (not training data)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✅ Every claim cites the source: [Source: blueprint.pptx, Slide 9]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✅ Data stays current — re-index when documents change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✅ No expensive fine-tuning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RAG vs Alternatives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A0AAB9"/>
                </a:solidFill>
              </a:defRPr>
            </a:pPr>
            <a:r>
              <a:t>Three ways to make an LLM know your 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8412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How It Works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Pros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Raw LLM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Ask GPT directly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Simple, fast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Hallucinations, no private data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$ (cheapest)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Fine-tuning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Retrain model on your data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Deep knowledge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Expensive, goes stale, hard to update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$$$$ (most expensive)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RAG ✅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Retrieve docs → pass to LLM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Fresh, cited, affordable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Needs pipeline engineering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$$ (sweet spot)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The RAG Iceberg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A0AAB9"/>
                </a:solidFill>
              </a:defRPr>
            </a:pPr>
            <a:r>
              <a:t>Most tutorials only cover what's above the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ABOVE THE WATER (Beginner):                 BELOW THE WATER (Builder):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• Data loaders (PDF, PPT)                    • Preprocessing &amp; data cleaning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• Chunking and embeddings                    • Section type classification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• Vector databases                           • Metadata filtering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• Prompt templates                           • Query intent detection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• Basic retrieval + generation               • Reranking (cross-encoders)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                                           • Evaluation metrics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                                           • Hallucination control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                                           • Multi-hop retrieval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                                           • LLM model routing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                                           • Cost optimization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                                           • Secure retrieval (RBAC)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Our project covers BOTH layers.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Our Problem: Knowledge Silos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6 architects, each working on different clients.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Each has their own architecture PPTs. Nobody knows the other's client.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❌  Finding info = manually opening and searching PPTs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❌  Onboarding new members takes weeks of knowledge transfer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❌  Cross-client insights nearly impossible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❌  When an architect is unavailable, their knowledge is inaccessible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The Data: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• 4 clients: DataStories, TechNova, MediFlow, RetailEdge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• 72 slides across 4 PPTs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• Covers: hosting, migration, budget, security, integration, risks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Our Solution: Architecture Knowledge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Drop client PPTs into a shared folder → System indexes everything automatically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→ Anyone asks questions → Gets cited answers instantly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Example queries: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"Explain DataStories architecture"         → Structured summary with citations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"What is the budget for TechNova?"         → Exact dollar amounts from the PPT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"Compare current vs proposed for RetailEdge" → Side-by-side comparison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"Which clients use AWS?"                   → Cross-client search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What makes this work: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✅ Folder name = client name (automatic metadata)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✅ Section type detection (current vs proposed vs budget vs security)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✅ Intent-based routing (comparison queries handled differently)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✅ Citations on every answer [Source: file.pptx, Slide X]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Phase 1 — Local Self-Hosted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A0AAB9"/>
                </a:solidFill>
              </a:defRPr>
            </a:pPr>
            <a:r>
              <a:t>Cost: ~₹8,000-11,000/month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Document Store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Local shared folder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Client PPTs by folder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Text Extraction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python-pptx, PyMuPDF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PPT/PDF → text per slide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Preprocessing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Custom Python (regex)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Clean boilerplate, classify sections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Chunking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Custom Python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100-1500 char chunks with metadata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Embeddings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Azure OpenAI text-embedding-3-small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Text → 1536-dim vectors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Vector Store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ChromaDB (local)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Store and search vectors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LLM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Azure OpenAI GPT-4.1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Generate answers with citations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FastAPI (port 8000)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REST endpoints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UI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Streamlit (port 8501)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Chat interface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Phase 2 — Azure-Native Managed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A0AAB9"/>
                </a:solidFill>
              </a:defRPr>
            </a:pPr>
            <a:r>
              <a:t>Cost: ~₹15,000-18,000/month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Benefit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Document Store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Azure Blob Storage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Versioning, event triggers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Text Extraction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Azure Document Intelligence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OCR reads text from diagrams!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Vector Store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Azure AI Search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Hybrid search + semantic reranking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Ingestion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Azure Functions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Auto-trigger on file upload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API Host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Azure App Service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Managed, SSL, scaling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Secrets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Azure Key Vault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Secure, audited, rotatable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Azure RBAC + Entra ID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Per-client access control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Monitoring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Azure Monitor + App Insights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Dashboards, alerts, traces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Phase 1 → Phase 2 Migration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A0AAB9"/>
                </a:solidFill>
              </a:defRPr>
            </a:pPr>
            <a:r>
              <a:t>Each component replaceable independently — modular design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Files to Change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Vector Store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ChromaDB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Azure AI Search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indexer.py + retriever.py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Extraction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python-pptx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Azure Doc Intelligence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extractor.py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Ingestion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Manual script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Azure Functions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ingest_pipeline.py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API Host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FastAPI on VM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Azure App Service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Deploy config only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Secrets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.env file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Azure Key Vault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settings.py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Monitoring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Console logs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Azure Monitor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Add SDK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RAG Pipeline — Write Path (Ingestion)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Runs once per document. Transforms PPTs into searchable vectors.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PPT File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→ scanner.py        Discover files, detect client from folder name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→ extractor.py      PPT → text per slide + tables as pipe-delimited text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→ preprocessor.py   Remove "Copyright ©..." boilerplate, detect section type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→ chunker.py        Merge small slides (&lt;100 chars), split large (&gt;1500 chars)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→ indexer.py        Embed via Azure OpenAI → store in ChromaDB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Our Results: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72 slides → 67 meaningful → 89 chunks → 6 batches → 19 seconds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Cost: ₹0.05 (five paise) for the entire ingestion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RAG Pipeline — Read Path (Query)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Runs every time someone asks a question.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"How is DataStories hosted?"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→ retriever.py      Detect intent: "explanation"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                     Detect client: "DataStories"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                     Embed query with Azure OpenAI (same model!)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                     Search ChromaDB with client filter → Top 8 chunks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→ generator.py      System prompt + retrieved chunks + question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                     → GPT-4.1 → structured answer + [Source: file, Slide X]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Special handling: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"Compare current vs proposed" → TWO separate retrievals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→ current_architecture chunks + proposed_architecture chunks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→ passed as separate sections → structured comparison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Document Extraction — PPT Challenges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8412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Element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Extractable?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Phase 2 Improvement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Text in shapes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Same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Slide titles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✅ Yes (placeholder detection)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Same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Tables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✅ Yes (as pipe-delimited text)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Better: Azure Doc Intelligence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Bullet points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Same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Diagrams/images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❌ No (images)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✅ OCR reads diagram text!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SmartArt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⚠️ Partial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✅ Full extraction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Scanned PDFs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❌ No text layer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✅ Full OCR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0292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Bug we hit: shape.placeholder_format raises ValueError on non-placeholder shapes.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Fix: try/except ValueError. Lesson: real PPTs break library assumptions.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Preprocessing &amp;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A0AAB9"/>
                </a:solidFill>
              </a:defRPr>
            </a:pPr>
            <a:r>
              <a:t>Rule #1: Garbage In = Garbage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14 of 26 DataStories slides had this as "title":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"Copyright © 2025 Accenture. All rights reserved."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Without cleaning: copyright text COMPETES with real content during retrieval.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What we clean: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✂ Copyright notices, confidential headers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✂ PPT template placeholders ("Place headline here", "First level bullet 20pt")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✂ Standalone page numbers (5, 6, 20)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What we classify (section_type):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current_architecture ← "existing", "legacy", "as-is"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proposed_architecture ← "target", "reference", "new design"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budget ← "cost", "pricing", "USD"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security ← "VPN", "firewall", "FASM"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+ 10 more types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Hybrid approach: Keywords (free, instant) → LLM fallback for unknowns ($0.0002)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Chunking — The Most Critical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Chunk = one piece of text stored in the vector database.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Each chunk gets its OWN embedding and is retrieved INDEPENDENTLY.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Too Small (&lt;300 chars):  Fragmented, lost context, many chunks = high cost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Too Large (&gt;3000 chars): Mixed topics, diluted embedding, retrieves noise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Just Right (500-1500):   Complete topic per chunk, focused embedding ✅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Our Settings: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CHUNK_MIN = 100 chars  (~25 tokens)   Below → merge with next slide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CHUNK_MAX = 1500 chars (~375 tokens)  Above → split with 150 char overlap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CHUNK_OVERLAP = 150 chars             Preserves context at boundaries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Why 1500 chars?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Embedding quality best at 200-400 tokens (1500 chars ≈ 375 tokens)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8 chunks × 375 tokens = 3,000 tokens context → fits easily in GPT-4.1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Embeddings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An embedding = list of 1,536 numbers that captures the MEANING of text.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"DataStories uses AWS"        → [0.12, -0.34, 0.56, ...]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"Infrastructure on Amazon"    → [0.11, -0.33, 0.55, ...]  ← SIMILAR (close vectors)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"Budget is $50K"              → [-0.89, 0.22, -0.11, ...]  ← DIFFERENT (far vectors)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How search works: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Your question → embed → find closest stored vectors → return those chunks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Our model: text-embedding-3-small ($0.02/1M tokens, 1536 dimensions)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CRITICAL RULE: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Same embedding model for INDEXING and QUERYING. Always. No exceptions.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Bug we hit: ChromaDB used its own 384-dim model for queries.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Our chunks were 1536-dim. Result: "dimension mismatch" — zero results!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Fix: embed queries ourselves with Azure OpenAI, pass as query_embeddings.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Retrieval — Two Types Combined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METADATA FILTERING (exact match):        SEMANTIC SEARCH (meaning match):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client = "DataStories"                  "hosting setup" finds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section_type = "budget"                 "infrastructure deployment"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→ Like SQL WHERE clause                 → Like Google search by meaning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→ Fast, precise, binary                 → Fuzzy, intelligent, scored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Used TOGETHER: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"How is DataStories hosted?"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→ Filter: client = DataStories (eliminates 69 of 89 chunks instantly)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→ Semantic: rank remaining 20 by meaning similarity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→ Top 8 returned: Slide 9 (0.61), Slide 10 (0.53), Slide 4 (0.52)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Comparison queries get SPECIAL handling: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"Compare current vs proposed" → TWO separate searches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→ current_architecture chunks + proposed_architecture chunks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→ Both passed to LLM as separate sections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Generation &amp; 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A0AAB9"/>
                </a:solidFill>
              </a:defRPr>
            </a:pPr>
            <a:r>
              <a:t>The system prompt is the most important text in the system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What It Enforces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Answer ONLY from context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No training data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Prevents hallucination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Include citations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[Source: file.pptx, Slide X]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Verifiable, auditable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Say 'I don't know'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Admit when info is missing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Prevents confident wrong answers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Structure clearly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Headings, bullets, lists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Readable, scannable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Be precise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Exact numbers, names, terms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Accurate, not vague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Temperature: 0.1 (almost deterministic — best for factual RAG answers)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Real example: When proposed architecture chunks weren't found, the LLM said: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"I don't have enough information to describe the proposed architecture."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It did NOT hallucinate. This is CORRECT grounded behavior.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LLM Model Selection Framework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8412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Input $/1M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Output $/1M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Context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GPT-4.1 Full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$2.00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$8.00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1.05M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Complex reasoning, comparisons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GPT-4.1 Mini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$0.40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$1.60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1.05M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Standard Q&amp;A — best value ✅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GPT-4.1 Nano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$0.10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$0.40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1.05M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Classification, simple tasks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47472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5 Decision Factors: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1. Task complexity → Simple=Nano, Medium=Mini, Complex=Full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2. Query volume   → &lt;100/day=any, 100-1000=Mini, &gt;1000=Nano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3. Accuracy need   → Nice-to-have=Nano, Must-be-correct=Mini/Full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4. Output length   → Short=Nano, Structured=Mini, Detailed=Full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5. Budget          → ₹100-200=Nano, ₹500-1000=Mini, ₹2000+=Full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Multi-Model Routing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A0AAB9"/>
                </a:solidFill>
              </a:defRPr>
            </a:pPr>
            <a:r>
              <a:t>Different queries → different models → optimized cost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User Question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  │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  ▼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Intent Detection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  │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  ├── classification task    → GPT-4.1 Nano   ($0.0002/call)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  ├── simple Q&amp;A             → GPT-4.1 Mini   ($0.0029/call)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  ├── explanation            → GPT-4.1 Mini   ($0.0029/call)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    └── comparison/reasoning   → GPT-4.1 Full   ($0.0144/call)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Average cost per query: ~$0.004 (₹0.38)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Monthly (1,800 queries): ~$7.20 (₹683)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This is CHEAPER than using Full for everything</a:t>
            </a:r>
          </a:p>
          <a:p>
            <a:pPr>
              <a:spcAft>
                <a:spcPts val="400"/>
              </a:spcAft>
              <a:defRPr sz="1300">
                <a:solidFill>
                  <a:srgbClr val="DCE1EB"/>
                </a:solidFill>
              </a:defRPr>
            </a:pPr>
            <a:r>
              <a:t>AND BETTER quality where it matters.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Cost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8412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Calculation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Monthly ₹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AI — Generation (Mini)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1,800 queries × ₹0.27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₹492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AI — Embeddings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Negligible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₹1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VM (D2as_v5)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$0.086/hr × 730 hrs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₹5,959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Storage (Blob 100GB)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100GB × $0.018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₹171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TOTAL Phase 1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₹6,622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TOTAL Phase 2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(+ Azure AI Search Basic)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₹11,711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5720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Key insight: AI tokens are only 7.4% of total cost.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Infrastructure (VM) dominates at 90%.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Per query cost: ₹0.27 (GPT-4.1 Mini)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6 comprehensive answers for ₹1.52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Entire ingestion (89 chunks): ₹0.05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Real Bugs We Hit &amp; Fixed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84124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Bug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Error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Lesson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1. Placeholder crash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ValueError: shape is not a placeholder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python-pptx quirk on non-placeholder shapes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Always try/except in extraction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2. Dimension mismatch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Collection expecting 1536, got 384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ChromaDB used its own 384-dim model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Same model for index AND query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3. Module imports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No module named 'src'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Python path doesn't include project root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Use python -m or fix sys.path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4. Settings mismatch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No attribute 'DOCUMENTS_DIR'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Uppercase vs lowercase in config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Consistent naming across modules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84632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Meta-lesson: Tutorial RAG works on clean data with simple configs.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Production RAG requires handling real-world messiness at every step.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Evaluation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A0AAB9"/>
                </a:solidFill>
              </a:defRPr>
            </a:pPr>
            <a:r>
              <a:t>Without evaluation, improvement is guesswork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What It Checks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Retrieval Hit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Did we find chunks matching expected section types?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Catches retrieval failures BEFORE they reach LLM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Faithfulness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Does answer contain key facts from expected answer?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Catches hallucination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Citation Present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Does answer include [Source: ...] references?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Catches unverifiable answers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148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Quality Gate: Overall accuracy must be ≥ 70% to pass.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10 golden Q&amp;A pairs created from real DataStories PPT content.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Covers: hosting, budget, migration, security, comparison, inventory.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Run evaluation: python -m eval.evaluate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What We Built — 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DCE1EB"/>
                </a:solidFill>
              </a:defRPr>
            </a:pPr>
            <a:r>
              <a:t>  📦 89 chunks indexed across 4 clients</a:t>
            </a:r>
          </a:p>
          <a:p>
            <a:pPr>
              <a:spcAft>
                <a:spcPts val="400"/>
              </a:spcAft>
              <a:defRPr sz="1400">
                <a:solidFill>
                  <a:srgbClr val="DCE1EB"/>
                </a:solidFill>
              </a:defRPr>
            </a:pPr>
            <a:r>
              <a:t>  📄 72 slides processed (67 meaningful after filtering)</a:t>
            </a:r>
          </a:p>
          <a:p>
            <a:pPr>
              <a:spcAft>
                <a:spcPts val="400"/>
              </a:spcAft>
              <a:defRPr sz="1400">
                <a:solidFill>
                  <a:srgbClr val="DCE1EB"/>
                </a:solidFill>
              </a:defRPr>
            </a:pPr>
            <a:r>
              <a:t>  🏢 4 clients: DataStories, MediFlow, RetailEdge, TechNova</a:t>
            </a:r>
          </a:p>
          <a:p>
            <a:pPr>
              <a:spcAft>
                <a:spcPts val="400"/>
              </a:spcAft>
              <a:defRPr sz="1400">
                <a:solidFill>
                  <a:srgbClr val="DCE1EB"/>
                </a:solidFill>
              </a:defRPr>
            </a:pPr>
            <a:r>
              <a:t>  🏷️ 8 section types detected automatically</a:t>
            </a:r>
          </a:p>
          <a:p>
            <a:pPr>
              <a:spcAft>
                <a:spcPts val="400"/>
              </a:spcAft>
              <a:defRPr sz="1400">
                <a:solidFill>
                  <a:srgbClr val="DCE1EB"/>
                </a:solidFill>
              </a:defRPr>
            </a:pPr>
            <a:r>
              <a:t>  🔌 5 API endpoints: /health, /ingest, /query, /stats, /clients</a:t>
            </a:r>
          </a:p>
          <a:p>
            <a:pPr>
              <a:spcAft>
                <a:spcPts val="400"/>
              </a:spcAft>
              <a:defRPr sz="1400">
                <a:solidFill>
                  <a:srgbClr val="DCE1EB"/>
                </a:solidFill>
              </a:defRPr>
            </a:pPr>
            <a:r>
              <a:t>  🧪 10 golden Q&amp;A evaluation pairs</a:t>
            </a:r>
          </a:p>
          <a:p>
            <a:pPr>
              <a:spcAft>
                <a:spcPts val="400"/>
              </a:spcAft>
              <a:defRPr sz="1400">
                <a:solidFill>
                  <a:srgbClr val="DCE1EB"/>
                </a:solidFill>
              </a:defRPr>
            </a:pPr>
            <a:r>
              <a:t>  🐍 12 Python modules, production-quality code</a:t>
            </a:r>
          </a:p>
          <a:p>
            <a:pPr>
              <a:spcAft>
                <a:spcPts val="400"/>
              </a:spcAft>
              <a:defRPr sz="1400">
                <a:solidFill>
                  <a:srgbClr val="DCE1EB"/>
                </a:solidFill>
              </a:defRPr>
            </a:pPr>
            <a:r>
              <a:t>  📊 Every answer includes citations to source slide</a:t>
            </a:r>
          </a:p>
          <a:p>
            <a:pPr>
              <a:spcAft>
                <a:spcPts val="400"/>
              </a:spcAft>
              <a:defRPr sz="14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DCE1EB"/>
                </a:solidFill>
              </a:defRPr>
            </a:pPr>
            <a:r>
              <a:t>  Ingestion time:  19 seconds for all 4 clients</a:t>
            </a:r>
          </a:p>
          <a:p>
            <a:pPr>
              <a:spcAft>
                <a:spcPts val="400"/>
              </a:spcAft>
              <a:defRPr sz="1400">
                <a:solidFill>
                  <a:srgbClr val="DCE1EB"/>
                </a:solidFill>
              </a:defRPr>
            </a:pPr>
            <a:r>
              <a:t>  Query time:      3-13 seconds per answer</a:t>
            </a:r>
          </a:p>
          <a:p>
            <a:pPr>
              <a:spcAft>
                <a:spcPts val="400"/>
              </a:spcAft>
              <a:defRPr sz="1400">
                <a:solidFill>
                  <a:srgbClr val="DCE1EB"/>
                </a:solidFill>
              </a:defRPr>
            </a:pPr>
            <a:r>
              <a:t>  Ingestion cost:  ₹0.05 (five paise)</a:t>
            </a:r>
          </a:p>
          <a:p>
            <a:pPr>
              <a:spcAft>
                <a:spcPts val="400"/>
              </a:spcAft>
              <a:defRPr sz="1400">
                <a:solidFill>
                  <a:srgbClr val="DCE1EB"/>
                </a:solidFill>
              </a:defRPr>
            </a:pPr>
            <a:r>
              <a:t>  Per-query cost:  ₹0.27 (GPT-4.1 Mini)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Sample Query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8412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782"/>
                <a:gridCol w="1201782"/>
                <a:gridCol w="1201782"/>
                <a:gridCol w="1201782"/>
                <a:gridCol w="1201782"/>
                <a:gridCol w="1201782"/>
                <a:gridCol w="1201788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Query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Client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Intent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Chunks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Tokens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Quality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How is DataStories hosted?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DataStories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explanation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1,979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5.7s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Explain MediFlow architecture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MediFlow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explanation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4,367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8.4s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Budget for TechNova?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TechNova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explanation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4,738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3.3s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Compare current vs proposed RetailEdge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RetailEdge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comparison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6,996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13.1s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Which clients use AWS?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All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listing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1,991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3.4s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0292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Total cost of all 6 test queries: ₹2.75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Every answer includes structured headings, bullet points, and source citations.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Missing Links &amp; Gaps to Address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841248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When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Reranking (cross-encoder)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Better retrieval precision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Phase 2 (free with Azure AI Search)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Streaming responses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Better UX (no waiting)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Phase 1.5 (easy add)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Response caching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Lower cost + latency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Phase 1.5 (Redis)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PII masking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Privacy compliance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Hallucination detection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Trust &amp; safety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Phase 2 (LLM-as-judge)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Feedback loop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Continuous improvement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Multi-hop retrieval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Complex cross-doc queries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Phase 3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Role-based access (RBAC)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Per-client security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Advanced RAG Patterns (Future)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🤖 Agentic RAG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 AI agent DECIDES how to answer — multiple retrievals, tool use, self-correction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 "Which clients with budget &gt;$50K are migrating to Azure?"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🖼️ Multimodal RAG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 Vision model reads architecture DIAGRAMS (images → text → indexed)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 "Explain the network diagram on Slide 9"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🕸️ Graph RAG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 Knowledge graph captures relationships between systems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 "Which systems depend on the API Gateway?" → graph traversal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🔄 Corrective RAG (CRAG)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 Generate → Check if grounded → If not → Re-retrieve → Re-generate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 Self-correcting loop that catches hallucination automatically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🎯 Adaptive RAG (what we partially built)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 Simple query → Nano model | Complex query → Full model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 Our intent-based routing is a simple form of this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Roadmap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8412480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4747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Timeframe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Week 1-2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Run evaluation, tune chunk size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Baseline quality numbers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Week 1-2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Add multi-model routing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Optimize cost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Week 1-2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Add streaming responses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Better UX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Month 1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Add response caching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Lower cost + latency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Month 1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Onboard real client PPTs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Validate with real data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Month 1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Team demo presentation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Knowledge sharing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Month 2-3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Migrate to Azure AI Search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Hybrid search + reranking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Month 2-3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Azure Document Intelligence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OCR for diagrams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Month 2-3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Deploy to Azure App Service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Managed hosting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4748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Month 3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RBAC + feedback loop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Security + improvement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10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1. Data quality &gt; Model quality — cleaning boilerplate matters more than GPT version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2. Chunk size is the #1 tuning parameter — 500-1500 chars is the sweet spot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3. Metadata filtering is as important as semantic search — prevents cross-client contamination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4. Same embedding model for indexing AND querying — dimension mismatch = zero results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5. Real documents break library assumptions — always wrap extraction in try/except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6. The system prompt is your most important prompt — enforces grounding + citations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7. Different queries need different strategies — comparison needs two separate retrievals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8. Start with one model, measure, then optimize — Mini handles 80% of queries well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9. Evaluation is not optional — without metrics, improvement is guesswork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10. Build modularly, migrate incrementally — change ChromaDB → Azure AI Search = 2 files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58A6FF"/>
                </a:solidFill>
              </a:defRPr>
            </a:pPr>
            <a:r>
              <a:t>Thank You</a:t>
            </a:r>
          </a:p>
          <a:p>
            <a:br/>
            <a:pPr algn="ctr">
              <a:defRPr sz="2200">
                <a:solidFill>
                  <a:srgbClr val="A0AAB9"/>
                </a:solidFill>
              </a:defRPr>
            </a:pPr>
            <a:r>
              <a:t>Questions &amp; Discussion</a:t>
            </a:r>
          </a:p>
          <a:p>
            <a:br/>
            <a:br/>
            <a:pPr algn="ctr">
              <a:defRPr sz="1400">
                <a:solidFill>
                  <a:srgbClr val="A0AAB9"/>
                </a:solidFill>
              </a:defRPr>
            </a:pPr>
            <a:r>
              <a:t>Architecture Team | June 2026</a:t>
            </a:r>
          </a:p>
          <a:p>
            <a:pPr algn="ctr">
              <a:defRPr sz="1300" i="1">
                <a:solidFill>
                  <a:srgbClr val="646E82"/>
                </a:solidFill>
              </a:defRPr>
            </a:pPr>
            <a:r>
              <a:t>"The best way to learn RAG is to build RAG."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