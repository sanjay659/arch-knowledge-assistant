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RetailEdge Corp</a:t>
            </a:r>
            <a:br/>
            <a:r>
              <a:t>Architecture Blueprint</a:t>
            </a:r>
          </a:p>
          <a:p>
            <a:pPr algn="l">
              <a:defRPr sz="1600">
                <a:solidFill>
                  <a:srgbClr val="96A0AF"/>
                </a:solidFill>
              </a:defRPr>
            </a:pPr>
            <a:r>
              <a:t>Hybrid Cloud — Multi-Cloud Modernization Strategy</a:t>
            </a:r>
          </a:p>
          <a:p>
            <a:pPr algn="l">
              <a:spcBef>
                <a:spcPts val="2000"/>
              </a:spcBef>
              <a:defRPr sz="1200">
                <a:solidFill>
                  <a:srgbClr val="788291"/>
                </a:solidFill>
              </a:defRPr>
            </a:pPr>
            <a:r>
              <a:t>Date: 01-Jun-2025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114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6E82"/>
                </a:solidFill>
              </a:defRPr>
            </a:pPr>
            <a:r>
              <a:t>Primary: Neha Gupta, Thomas Mueller</a:t>
            </a:r>
          </a:p>
          <a:p>
            <a:pPr>
              <a:defRPr sz="1100">
                <a:solidFill>
                  <a:srgbClr val="646E82"/>
                </a:solidFill>
              </a:defRPr>
            </a:pPr>
            <a:r>
              <a:t>QA: Akira Tanaka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C83C3C"/>
                </a:solidFill>
              </a:defRPr>
            </a:pPr>
            <a:r>
              <a:t>HIGHLY CONFIDENTIAL - FOR COMPANY INTERNAL USE BY AUTHORIZED PERSONNEL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58A6FF"/>
                </a:solidFill>
              </a:defRPr>
            </a:pPr>
            <a:r>
              <a:t>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7772400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DCE1EB"/>
                </a:solidFill>
              </a:defRPr>
            </a:pPr>
            <a:r>
              <a:t>01 — Executive Summary</a:t>
            </a:r>
          </a:p>
          <a:p>
            <a:pPr>
              <a:spcBef>
                <a:spcPts val="600"/>
              </a:spcBef>
              <a:defRPr sz="1300">
                <a:solidFill>
                  <a:srgbClr val="DCE1EB"/>
                </a:solidFill>
              </a:defRPr>
            </a:pPr>
            <a:r>
              <a:t>02 — Current Hybrid Architecture (Azure + On-Prem)</a:t>
            </a:r>
          </a:p>
          <a:p>
            <a:pPr>
              <a:spcBef>
                <a:spcPts val="600"/>
              </a:spcBef>
              <a:defRPr sz="1300">
                <a:solidFill>
                  <a:srgbClr val="DCE1EB"/>
                </a:solidFill>
              </a:defRPr>
            </a:pPr>
            <a:r>
              <a:t>03 — Proposed Multi-Cloud Architecture</a:t>
            </a:r>
          </a:p>
          <a:p>
            <a:pPr>
              <a:spcBef>
                <a:spcPts val="600"/>
              </a:spcBef>
              <a:defRPr sz="1300">
                <a:solidFill>
                  <a:srgbClr val="DCE1EB"/>
                </a:solidFill>
              </a:defRPr>
            </a:pPr>
            <a:r>
              <a:t>04 — Microservices Migration Plan</a:t>
            </a:r>
          </a:p>
          <a:p>
            <a:pPr>
              <a:spcBef>
                <a:spcPts val="600"/>
              </a:spcBef>
              <a:defRPr sz="1300">
                <a:solidFill>
                  <a:srgbClr val="DCE1EB"/>
                </a:solidFill>
              </a:defRPr>
            </a:pPr>
            <a:r>
              <a:t>05 — API Gateway &amp; Integration Layer</a:t>
            </a:r>
          </a:p>
          <a:p>
            <a:pPr>
              <a:spcBef>
                <a:spcPts val="600"/>
              </a:spcBef>
              <a:defRPr sz="1300">
                <a:solidFill>
                  <a:srgbClr val="DCE1EB"/>
                </a:solidFill>
              </a:defRPr>
            </a:pPr>
            <a:r>
              <a:t>06 — CDN &amp; Performance Optimization</a:t>
            </a:r>
          </a:p>
          <a:p>
            <a:pPr>
              <a:spcBef>
                <a:spcPts val="600"/>
              </a:spcBef>
              <a:defRPr sz="1300">
                <a:solidFill>
                  <a:srgbClr val="DCE1EB"/>
                </a:solidFill>
              </a:defRPr>
            </a:pPr>
            <a:r>
              <a:t>07 — Budget &amp; Cost Estimates</a:t>
            </a:r>
          </a:p>
          <a:p>
            <a:pPr>
              <a:spcBef>
                <a:spcPts val="600"/>
              </a:spcBef>
              <a:defRPr sz="1300">
                <a:solidFill>
                  <a:srgbClr val="DCE1EB"/>
                </a:solidFill>
              </a:defRPr>
            </a:pPr>
            <a:r>
              <a:t>08 — Timeline &amp; Milestones</a:t>
            </a:r>
          </a:p>
          <a:p>
            <a:pPr>
              <a:spcBef>
                <a:spcPts val="600"/>
              </a:spcBef>
              <a:defRPr sz="1300">
                <a:solidFill>
                  <a:srgbClr val="DCE1EB"/>
                </a:solidFill>
              </a:defRPr>
            </a:pPr>
            <a:r>
              <a:t>09 — Assumptions &amp; Risks</a:t>
            </a:r>
          </a:p>
          <a:p>
            <a:pPr>
              <a:spcBef>
                <a:spcPts val="600"/>
              </a:spcBef>
              <a:defRPr sz="1300">
                <a:solidFill>
                  <a:srgbClr val="DCE1EB"/>
                </a:solidFill>
              </a:defRPr>
            </a:pPr>
            <a:r>
              <a:t>10 — Operations Support Matrix</a:t>
            </a:r>
          </a:p>
          <a:p>
            <a:pPr>
              <a:spcBef>
                <a:spcPts val="600"/>
              </a:spcBef>
              <a:defRPr sz="1300">
                <a:solidFill>
                  <a:srgbClr val="DCE1EB"/>
                </a:solidFill>
              </a:defRPr>
            </a:pPr>
            <a:r>
              <a:t>11 — Success Criteria</a:t>
            </a:r>
          </a:p>
          <a:p>
            <a:pPr>
              <a:spcBef>
                <a:spcPts val="600"/>
              </a:spcBef>
              <a:defRPr sz="1300">
                <a:solidFill>
                  <a:srgbClr val="DCE1EB"/>
                </a:solidFill>
              </a:defRPr>
            </a:pPr>
            <a:r>
              <a:t>12 — Contacts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RetailEdge Corp is a global e-commerce and retail analytics company operating in 12 countries with 500+ retail stores and a high-traffic online platform.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The platform serves 8 million monthly active users with $2.1B annual GMV (Gross Merchandise Value).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Current State: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Primary workloads on Azure (East US 2, West Europe, Southeast Asia)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Legacy inventory management system on-premises in Chicago DC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Google Cloud Platform (GCP) used for ML/AI workloads (BigQuery, Vertex AI)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Total monthly cloud spend: $95,000/month across all platforms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Key Challenges: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On-prem inventory system is bottleneck — 8 hour batch sync with cloud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No unified API gateway — 6 different API management solutions in use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CDN costs are $18,000/month due to unoptimized caching strategy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Security policies inconsistent across Azure, GCP, and on-prem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Proposed Transformation: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Migrate on-prem inventory system to Azure as cloud-native microservices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Implement unified API gateway (Azure API Management) across all clouds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Optimize CDN with Azure Front Door + Cloudflare for multi-CDN strategy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Introduce GCP-to-Azure data pipeline for ML model serving at edge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Implement unified security with Azure Arc for multi-cloud governance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Target Outcome: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Inventory sync: Real-time (from 8 hours currently)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API response time: &lt;50ms globally (from current 200-400ms)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Cloud spend reduction: 25% savings through optimization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Single security posture across all environments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Current Hybrid Architecture — Azure + On-Prem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Azure Environment (Primary — 70% of workloads):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E-Commerce Platform: AKS cluster (3 regions) running 35 microservices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Database: Azure SQL Managed Instance (Business Critical tier) for transactional data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Azure Cosmos DB for product catalog (global distribution, multi-region writes)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Azure Redis Cache (Premium) for session management and product caching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Azure Service Bus for order processing queue (avg 500,000 orders/day on peak)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Azure Functions for order fulfillment event processing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Azure CDN for static assets (images, JS, CSS) — 15TB egress/month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On-Premises — Chicago DC (Legacy — 15% of workloads):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Inventory Management System (IMS): Monolithic Java 8 application on WebSphere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Oracle Database 19c for inventory data (12TB, 500M+ SKU records)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Batch ETL: Informatica PowerCenter for 8-hourly inventory sync to Azure SQL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POS Integration Hub: Real-time POS transaction feed from 500+ stores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Hardware: 8 IBM Power9 servers, IBM FlashSystem storage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GCP Environment (AI/ML — 15% of workloads):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BigQuery data warehouse (200TB) for retail analytics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Vertex AI for demand forecasting models (refreshed weekly)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GCP Dataflow for real-time clickstream processing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ML model predictions exported to Azure via nightly batch file transfer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Current Pain Points: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Azure ↔ On-Prem: ExpressRoute 1Gbps, but batch sync creates 8-hour data lag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Azure ↔ GCP: No direct connectivity, using public internet with VPN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6 different API gateways: Azure APIM, Kong (on-prem), AWS API GW (legacy), NGINX, Apigee, custom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Proposed Multi-Cloud Architecture — Target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The proposed architecture eliminates the on-prem bottleneck and unifies the multi-cloud environment: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Azure (Primary Platform — 80%):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AKS v2: Upgraded Kubernetes clusters with KEDA auto-scaling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New Inventory Microservices (replacing monolith):</a:t>
            </a:r>
          </a:p>
          <a:p>
            <a:pPr lvl="2">
              <a:spcBef>
                <a:spcPts val="400"/>
              </a:spcBef>
              <a:defRPr sz="1000">
                <a:solidFill>
                  <a:srgbClr val="A0AAB9"/>
                </a:solidFill>
              </a:defRPr>
            </a:pPr>
            <a:r>
              <a:t>Inventory Query Service (read-optimized, Cosmos DB backend)</a:t>
            </a:r>
          </a:p>
          <a:p>
            <a:pPr lvl="2">
              <a:spcBef>
                <a:spcPts val="400"/>
              </a:spcBef>
              <a:defRPr sz="1000">
                <a:solidFill>
                  <a:srgbClr val="A0AAB9"/>
                </a:solidFill>
              </a:defRPr>
            </a:pPr>
            <a:r>
              <a:t>Inventory Update Service (write-optimized, event-sourced)</a:t>
            </a:r>
          </a:p>
          <a:p>
            <a:pPr lvl="2">
              <a:spcBef>
                <a:spcPts val="400"/>
              </a:spcBef>
              <a:defRPr sz="1000">
                <a:solidFill>
                  <a:srgbClr val="A0AAB9"/>
                </a:solidFill>
              </a:defRPr>
            </a:pPr>
            <a:r>
              <a:t>Inventory Sync Service (real-time store POS → cloud)</a:t>
            </a:r>
          </a:p>
          <a:p>
            <a:pPr lvl="2">
              <a:spcBef>
                <a:spcPts val="400"/>
              </a:spcBef>
              <a:defRPr sz="1000">
                <a:solidFill>
                  <a:srgbClr val="A0AAB9"/>
                </a:solidFill>
              </a:defRPr>
            </a:pPr>
            <a:r>
              <a:t>Stock Allocation Service (order reservation engine)</a:t>
            </a:r>
          </a:p>
          <a:p>
            <a:pPr lvl="2">
              <a:spcBef>
                <a:spcPts val="400"/>
              </a:spcBef>
              <a:defRPr sz="1000">
                <a:solidFill>
                  <a:srgbClr val="A0AAB9"/>
                </a:solidFill>
              </a:defRPr>
            </a:pPr>
            <a:r>
              <a:t>Warehouse Management Service (fulfillment orchestration)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Azure Event Hubs for real-time POS data streaming (replacing batch ETL)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Azure SQL Hyperscale for transactional data (replacing Managed Instance)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Azure Cosmos DB (unchanged — global catalog)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GCP (AI/ML Platform — 15%):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BigQuery (unchanged)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Vertex AI (unchanged) with new real-time model serving endpoint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Cloud Interconnect to Azure (direct 10Gbps link via Megaport)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ML predictions served via gRPC to Azure in real-time (replacing nightly batch)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Multi-Cloud Networking: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Azure ExpressRoute (10Gbps upgrade) for store connectivity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Google Cloud Interconnect to Azure via Megaport for GCP ↔ Azure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Azure Front Door as global entry point for all traffic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Security Unification: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Azure Arc for multi-cloud governance (Azure + GCP + edge)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Microsoft Sentinel for SIEM across all environments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Azure Policy applied uniformly via Arc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Zero Trust Network Access via Azure Entra ID + Conditional Access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Microservices Migration Plan — Inventory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The monolithic Java 8 Inventory Management System will be decomposed into 5 microservices: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Service 1: Inventory Query Service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Technology: Java 21 + Spring Boot + Cosmos DB (read replicas)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Traffic: 50,000 queries/second during peak (Black Friday)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Latency target: &lt;20ms P99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Pattern: CQRS (reads separated from writes)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Service 2: Inventory Update Service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Technology: Java 21 + Spring Boot + Azure SQL Hyperscale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Traffic: 10,000 updates/second during peak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Pattern: Event Sourcing with Azure Event Hubs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Every inventory change published as event for downstream consumers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Service 3: Inventory Sync Service (POS → Cloud)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Technology: Java 21 + Spring Boot + Azure Event Hubs consumer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Replaces: Informatica batch ETL (8-hour lag → real-time)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Receives POS transactions from 500+ stores in real-time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Processes 2M+ POS events/day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Service 4: Stock Allocation Service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Technology: Java 21 + Spring Boot + Azure Redis Cache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Handles order-time stock reservation (prevents overselling)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Supports optimistic locking with Redis distributed locks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Service 5: Warehouse Management Service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Technology: .NET 8 + Azure Service Bus (existing team expertise)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Orchestrates fulfillment across 12 warehouses globally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Integrates with third-party logistics (FedEx, UPS, DHL APIs)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Database Migration: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Oracle 19c (12TB) → Azure SQL Hyperscale + Cosmos DB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Oracle-specific PL/SQL procedures rewritten as application logic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Data migration using Azure Database Migration Service (Oracle → SQL)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Parallel run: 4 weeks of dual-write (Oracle + Azure) before Oracle decommission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API Gateway &amp; Integration Layer — Unification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Current API Landscape (fragmented):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Azure API Management: E-commerce APIs (product, cart, checkout)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Kong Gateway (on-prem): Inventory APIs (legacy)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AWS API Gateway: Legacy mobile app APIs (migrated 2 years ago, still active)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NGINX: Internal microservice routing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Apigee: Partner APIs (B2B catalog sharing)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Custom Python Flask API proxy: ML prediction APIs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Total: 340+ APIs across 6 gateways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Proposed Unified Architecture: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Azure API Management (Premium tier) as single gateway for ALL APIs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Self-hosted APIM gateway deployed on AKS for lowest latency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Self-hosted APIM gateway on GCP GKE for ML API proxying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API Categories (post-unification):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Customer APIs (150+): Product search, cart, checkout, order tracking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Partner APIs (45+): B2B catalog, pricing, inventory sharing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Internal APIs (100+): Admin, analytics, warehouse, fulfillment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ML APIs (45+): Recommendations, demand forecast, pricing optimization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Key Integration Patterns: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Synchronous: REST/gRPC for real-time queries (product search, stock check)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Asynchronous: Azure Event Hubs + Service Bus for order processing, inventory sync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Streaming: Azure Event Hubs for POS real-time feed + clickstream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Batch: Azure Data Factory for nightly analytics ETL to BigQuery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Rate Limiting &amp; Throttling: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Tier 1 (Premium customers): 10,000 req/min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Tier 2 (Standard): 1,000 req/min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Tier 3 (Free/Trial): 100 req/min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DDoS protection via Azure Front Door + WAF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CDN &amp; Performance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Current CDN Issues: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Azure CDN only — single provider, no failover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Cache hit ratio: 62% (industry benchmark: 85%+)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Monthly CDN egress: 15TB at $18,000/month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No image optimization — serving original 4K product images to mobile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TTFB (Time to First Byte): 180ms average globally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Proposed Multi-CDN Strategy: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Primary CDN: Azure Front Door Premium (integrated WAF + routing)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Secondary CDN: Cloudflare Enterprise (failover + edge compute)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CDN switching logic via Azure Traffic Manager health probes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Performance Optimizations: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Image optimization: Azure CDN image transformation (WebP/AVIF auto-convert)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Product images reduced from 4MB → 200KB average (95% reduction)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Aggressive caching: Product catalog cached for 5 min (vs current 30 sec)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Stale-while-revalidate header for improved perceived performance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Edge caching of ML recommendation responses (60-second TTL)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Target Metrics: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Cache hit ratio: &gt;90% (from 62%)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TTFB: &lt;50ms globally (from 180ms)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CDN cost: $8,000/month (from $18,000 — 56% reduction)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Core Web Vitals: LCP &lt; 1.5s, FID &lt; 50ms, CLS &lt; 0.05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Edge Compute (Future):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Cloudflare Workers for A/B test routing at edge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Azure Front Door Rules Engine for personalized caching per region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Edge-side ML inference for real-time product recommendations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Budget &amp; Cost Estimates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Current Monthly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Target Monthly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Savings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Azure Compute (AKS)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$32,000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$28,000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$4,000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KEDA auto-scaling optimization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Azure Databases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$18,000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$16,500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$1,500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Hyperscale + reserved instances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Azure Networking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$8,000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$10,500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-$2,500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10Gbps ExpressRoute upgrade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Azure CDN/Front Door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$18,000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$8,000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$10,000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Multi-CDN + optimization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GCP (BigQuery+Vertex)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$12,000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$12,000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No change planned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GCP Interconnect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$2,500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-$2,500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New Megaport link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On-Prem Chicago DC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$7,000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$7,000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Fully decommissioned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Security Tools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$3,000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$4,500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-$1,500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Sentinel + Arc added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$98,000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$82,000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$16,000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16.3% cost reduction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One-Time Migration Costs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6858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Cost (USD)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Inventory System Refactoring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$180,000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12-week dev effort, 6 engineers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Oracle → Azure SQL Migration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$35,000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DMS + PL/SQL rewrite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API Gateway Consolidation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$45,000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340 APIs migrated to APIM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Network Infrastructure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$25,000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Megaport + ExpressRoute upgrade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Performance Optimization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$15,000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CDN setup + image pipeline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Training &amp; Enablement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$12,000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Multi-cloud training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Contingency (15%)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$46,800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Buffer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$358,800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ROI: 22 months at $16K/month savings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Timeline &amp; Milestones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Duration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Key Deliverable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Assessment &amp; Planning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Weeks 1-3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Architecture blueprint approved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Neha Gupta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API Gateway Consolidation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Weeks 4-12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340 APIs on Azure APIM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API Team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Inventory Microservices Dev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Weeks 4-16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5 services deployed on AKS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Dev Team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Oracle DB Migration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Weeks 12-18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Data migrated to Azure SQL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DBA Team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GCP Interconnect Setup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Weeks 6-10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10Gbps link active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Network Team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CDN Optimization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Weeks 8-12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Multi-CDN live, &gt;90% cache hit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Platform Team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On-Prem Decommission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Weeks 18-22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Chicago DC hardware returned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Infra Team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Security Unification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Weeks 10-20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Azure Arc + Sentinel active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Security Team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UAT &amp; Go-Live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Weeks 20-24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Full production cutover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All Teams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Assumptions &amp; Risks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Mitigation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Oracle PL/SQL can be rewritten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Assumption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Early POC in Week 2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GCP Interconnect provisioning takes 4 weeks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Assumption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Order in Week 1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Black Friday traffic spike during migration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No cutover Nov 15-Dec 5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Oracle license termination penalties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Legal review before migration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Microservice decomposition defects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4-week parallel run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All 340 APIs compatible with APIM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Assumption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API audit in assessment phase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Store POS systems support real-time streaming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Assumption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POS vendor validation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CDN migration causes cache invalidation storm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Gradual traffic migration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GCP team supports Cloud Interconnect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Dependency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Coordination with GCP CSM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Operations Support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Service Area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Team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SLA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Coverage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Azure AKS + Compute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Platform Engineering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99.95%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24x7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Azure Databases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DBA Team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99.99%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24x7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GCP BigQuery + Vertex AI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Data Engineering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99.9%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Business Hours + On-call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API Gateway (APIM)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API Platform Team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99.95%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24x7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CDN &amp; Front Door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Platform Engineering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99.99%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24x7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Security (Sentinel + Arc)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SecOps Team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24x7 SOC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Inventory Microservices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Inventory Dev Team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99.9%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24x7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Store POS Integration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Retail Tech Team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99.9%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Store Hours + On-call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Success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The modernization will be deemed successful when RetailEdge confirms: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1. Inventory sync is real-time (&lt;5 second lag from POS to cloud) — replacing 8-hour batch.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2. All 340 APIs are served through unified Azure API Management gateway.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3. API response time is &lt;50ms globally (P99) measured from Azure Front Door edge.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4. E-commerce platform handles 100,000 concurrent users during Black Friday without degradation.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5. Cache hit ratio exceeds 90% across multi-CDN setup.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6. CDN monthly cost reduced to &lt;$8,000 (from $18,000).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7. GCP ML predictions served in real-time (&lt;100ms) via Cloud Interconnect.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8. Oracle database fully decommissioned with zero data loss verified.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9. Chicago data center fully decommissioned and hardware returned.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10. Azure Arc governance policies apply uniformly across Azure + GCP.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11. Microsoft Sentinel SIEM active with alerts for all environments.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12. Monthly cloud spend does not exceed $82,000 (+ contingency).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13. Zero production outages during migration period.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Contacts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6858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Email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Enterprise Architect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Neha Gupta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neha.g@company.com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Cloud Architect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Thomas Mueller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thomas.m@company.com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QA Lead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Akira Tanaka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akira.t@company.com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RetailEdge CTO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Jennifer Park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j.park@retailedge.com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RetailEdge VP Engineering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Carlos Mendez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c.mendez@retailedge.com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Data Platform Lead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Yuki Watanabe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y.watanabe@company.com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/>
  <dc:subject/>
  <dc:creator>Thakur, Sanjay</dc:creator>
  <keywords/>
  <dc:description>generated using python-pptx</dc:description>
  <lastModifiedBy>Thakur, Sanjay</lastModifiedBy>
  <revision>1</revision>
  <dcterms:created xsi:type="dcterms:W3CDTF">2026-06-02T06:14:39.2320694Z</dcterms:created>
  <dcterms:modified xsi:type="dcterms:W3CDTF">2026-06-02T06:14:39.2320694Z</dcterms:modified>
  <category/>
</coreProperties>
</file>