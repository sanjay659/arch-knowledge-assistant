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923" r:id="rId5"/>
  </p:sldMasterIdLst>
  <p:notesMasterIdLst>
    <p:notesMasterId r:id="rId32"/>
  </p:notesMasterIdLst>
  <p:handoutMasterIdLst>
    <p:handoutMasterId r:id="rId33"/>
  </p:handoutMasterIdLst>
  <p:sldIdLst>
    <p:sldId id="366" r:id="rId6"/>
    <p:sldId id="805" r:id="rId7"/>
    <p:sldId id="806" r:id="rId8"/>
    <p:sldId id="2146848375" r:id="rId9"/>
    <p:sldId id="2146848376" r:id="rId10"/>
    <p:sldId id="2146848377" r:id="rId11"/>
    <p:sldId id="432" r:id="rId12"/>
    <p:sldId id="2146848378" r:id="rId13"/>
    <p:sldId id="2146848406" r:id="rId14"/>
    <p:sldId id="2146848379" r:id="rId15"/>
    <p:sldId id="2146848146" r:id="rId16"/>
    <p:sldId id="2146848393" r:id="rId17"/>
    <p:sldId id="2146848394" r:id="rId18"/>
    <p:sldId id="2146848396" r:id="rId19"/>
    <p:sldId id="2146848410" r:id="rId20"/>
    <p:sldId id="2146848398" r:id="rId21"/>
    <p:sldId id="2146848408" r:id="rId22"/>
    <p:sldId id="2146848391" r:id="rId23"/>
    <p:sldId id="2146848390" r:id="rId24"/>
    <p:sldId id="2146848362" r:id="rId25"/>
    <p:sldId id="2146848399" r:id="rId26"/>
    <p:sldId id="2146848400" r:id="rId27"/>
    <p:sldId id="2146848412" r:id="rId28"/>
    <p:sldId id="2146848401" r:id="rId29"/>
    <p:sldId id="2146848402" r:id="rId30"/>
    <p:sldId id="214684840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7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tterjee, Priyank" userId="c647f123-000c-4191-8a90-5030681962f6" providerId="ADAL" clId="{EE8E24F5-D5B0-4FFA-8358-70E00525015D}"/>
    <pc:docChg chg="undo custSel modSld">
      <pc:chgData name="Chatterjee, Priyank" userId="c647f123-000c-4191-8a90-5030681962f6" providerId="ADAL" clId="{EE8E24F5-D5B0-4FFA-8358-70E00525015D}" dt="2025-05-27T08:07:59.263" v="6" actId="22"/>
      <pc:docMkLst>
        <pc:docMk/>
      </pc:docMkLst>
      <pc:sldChg chg="addSp delSp modSp mod">
        <pc:chgData name="Chatterjee, Priyank" userId="c647f123-000c-4191-8a90-5030681962f6" providerId="ADAL" clId="{EE8E24F5-D5B0-4FFA-8358-70E00525015D}" dt="2025-05-27T08:07:59.263" v="6" actId="22"/>
        <pc:sldMkLst>
          <pc:docMk/>
          <pc:sldMk cId="2195858297" sldId="2146848377"/>
        </pc:sldMkLst>
        <pc:graphicFrameChg chg="add del modGraphic">
          <ac:chgData name="Chatterjee, Priyank" userId="c647f123-000c-4191-8a90-5030681962f6" providerId="ADAL" clId="{EE8E24F5-D5B0-4FFA-8358-70E00525015D}" dt="2025-05-27T08:07:58.746" v="5" actId="478"/>
          <ac:graphicFrameMkLst>
            <pc:docMk/>
            <pc:sldMk cId="2195858297" sldId="2146848377"/>
            <ac:graphicFrameMk id="5" creationId="{DE570FD0-80FA-25F9-076E-26289071EEF6}"/>
          </ac:graphicFrameMkLst>
        </pc:graphicFrameChg>
        <pc:picChg chg="add del">
          <ac:chgData name="Chatterjee, Priyank" userId="c647f123-000c-4191-8a90-5030681962f6" providerId="ADAL" clId="{EE8E24F5-D5B0-4FFA-8358-70E00525015D}" dt="2025-05-27T08:07:37.160" v="2" actId="22"/>
          <ac:picMkLst>
            <pc:docMk/>
            <pc:sldMk cId="2195858297" sldId="2146848377"/>
            <ac:picMk id="8" creationId="{5DD393C1-8325-F2B3-5AE3-7A88F37B4382}"/>
          </ac:picMkLst>
        </pc:picChg>
        <pc:picChg chg="add">
          <ac:chgData name="Chatterjee, Priyank" userId="c647f123-000c-4191-8a90-5030681962f6" providerId="ADAL" clId="{EE8E24F5-D5B0-4FFA-8358-70E00525015D}" dt="2025-05-27T08:07:59.263" v="6" actId="22"/>
          <ac:picMkLst>
            <pc:docMk/>
            <pc:sldMk cId="2195858297" sldId="2146848377"/>
            <ac:picMk id="10" creationId="{AB5D58BE-9E0E-0AD4-6160-70DBAEBAD55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A3D8A7-9FAF-473E-86A2-E9D6E9DB3D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00E45-C404-466D-A054-C6810E5F59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B1490-FCB5-451D-8AC3-1D4F34D4D93B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C8D89-CC6F-4757-8BF9-E5868242ED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HIGHLY CONFIDENTIAL- FOR COMPANY INTERNAL USE BY AUTHORIZED PERSONNEL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B636B-28D3-4BA3-8BA4-35B0BEA04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F39C9-01D6-484F-AE4C-2BFE56AC34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6971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A0FDF-1BAD-42A0-90CA-891D56A08A50}" type="datetimeFigureOut">
              <a:rPr lang="en-US" smtClean="0"/>
              <a:t>5/27/2025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HIGHLY CONFIDENTIAL- FOR COMPANY INTERNAL USE BY AUTHORIZED PERSONNEL ONLY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FA2ED-A945-4D2D-B960-6831D9E7E3F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4067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3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796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02888-FAEB-4B1D-9C0C-78D79D839E6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59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1C4AC-5AB1-4B89-8CA9-6C22507C3B2E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03243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   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934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193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298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295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6E8A87-18DA-4CCE-A8C2-BDBC489258C6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099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1C4AC-5AB1-4B89-8CA9-6C22507C3B2E}" type="slidenum">
              <a:rPr lang="en-CA" smtClean="0"/>
              <a:t>20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085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494AA491-F1F8-4D38-B722-DB2F38B1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226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>
            <a:extLst>
              <a:ext uri="{FF2B5EF4-FFF2-40B4-BE49-F238E27FC236}">
                <a16:creationId xmlns:a16="http://schemas.microsoft.com/office/drawing/2014/main" id="{0D82E30B-4E95-4B73-9014-71990AE21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87294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80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 descr="Background image placeholder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6" name="GTS_WH">
            <a:extLst>
              <a:ext uri="{FF2B5EF4-FFF2-40B4-BE49-F238E27FC236}">
                <a16:creationId xmlns:a16="http://schemas.microsoft.com/office/drawing/2014/main" id="{5820492B-C4D2-42F2-B2B8-CB1CE70F8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51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43808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>
            <a:extLst>
              <a:ext uri="{FF2B5EF4-FFF2-40B4-BE49-F238E27FC236}">
                <a16:creationId xmlns:a16="http://schemas.microsoft.com/office/drawing/2014/main" id="{C703F910-26EC-4B07-B522-B28DEB82C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71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>
            <a:extLst>
              <a:ext uri="{FF2B5EF4-FFF2-40B4-BE49-F238E27FC236}">
                <a16:creationId xmlns:a16="http://schemas.microsoft.com/office/drawing/2014/main" id="{C6212C50-BB96-4C0C-BC89-2B3C80821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92429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>
            <a:extLst>
              <a:ext uri="{FF2B5EF4-FFF2-40B4-BE49-F238E27FC236}">
                <a16:creationId xmlns:a16="http://schemas.microsoft.com/office/drawing/2014/main" id="{1A7501AC-E717-4CB3-89D9-DEE7B06E1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6882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 descr="Background image placeholder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507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 descr="Background image placeholder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>
            <a:extLst>
              <a:ext uri="{FF2B5EF4-FFF2-40B4-BE49-F238E27FC236}">
                <a16:creationId xmlns:a16="http://schemas.microsoft.com/office/drawing/2014/main" id="{BA79480B-BE6F-49EC-829D-D8AF858A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486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 descr="Background image placeholder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659D61A8-47A5-47C2-A85A-BCCCBE83C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20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>
            <a:extLst>
              <a:ext uri="{FF2B5EF4-FFF2-40B4-BE49-F238E27FC236}">
                <a16:creationId xmlns:a16="http://schemas.microsoft.com/office/drawing/2014/main" id="{35D3F8C8-B2E5-431B-9639-9F0553086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95907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 descr="Background image placeholder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9A6723-3F53-4981-840E-D1D62874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25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 descr="Background image placeholder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49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10" name="Logo_BL">
            <a:extLst>
              <a:ext uri="{FF2B5EF4-FFF2-40B4-BE49-F238E27FC236}">
                <a16:creationId xmlns:a16="http://schemas.microsoft.com/office/drawing/2014/main" id="{854C139D-5D17-4D1A-87BD-07B345E2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18919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9" name="Logo_BL">
            <a:extLst>
              <a:ext uri="{FF2B5EF4-FFF2-40B4-BE49-F238E27FC236}">
                <a16:creationId xmlns:a16="http://schemas.microsoft.com/office/drawing/2014/main" id="{1C5BF709-3623-4620-9FF0-B8F8076A8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091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9" name="Logo_BL">
            <a:extLst>
              <a:ext uri="{FF2B5EF4-FFF2-40B4-BE49-F238E27FC236}">
                <a16:creationId xmlns:a16="http://schemas.microsoft.com/office/drawing/2014/main" id="{8D3E8DD1-C700-46AC-AA94-9072B0F31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0312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 descr="Background image placeholder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10" name="Logo_BL">
            <a:extLst>
              <a:ext uri="{FF2B5EF4-FFF2-40B4-BE49-F238E27FC236}">
                <a16:creationId xmlns:a16="http://schemas.microsoft.com/office/drawing/2014/main" id="{854C139D-5D17-4D1A-87BD-07B345E2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3558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 descr="Background image placeholder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1DFCC-5489-470C-84F4-93032F09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3246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4B2379EA-B598-42DD-B03E-5C4FC1D46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3893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14" name="GTS_WH">
            <a:extLst>
              <a:ext uri="{FF2B5EF4-FFF2-40B4-BE49-F238E27FC236}">
                <a16:creationId xmlns:a16="http://schemas.microsoft.com/office/drawing/2014/main" id="{3FC0722F-C643-4988-96E8-F00519CB3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01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C5173724-68B6-47CD-B850-71B1407EE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841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8010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85002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61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696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5800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4510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2051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889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6348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9" name="Content Placeholder 14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17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363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6715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0848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632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6" name="Picture Placeholder 5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93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1145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47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527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2389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781F80-F3D9-42F9-B6EE-F6DC303E0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69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774BCE-242F-4FF9-9C01-D01B97743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354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2FF57A0A-C5DD-42B6-8DD3-E5EA041C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988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B0B0C095-6C73-4899-AD8E-8F75768CF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02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AE479463-B4C9-4B9A-BE8B-62B5B9CF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516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237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5437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085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15CF9-0171-42E2-9C83-DD0E6FA49A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B17F2-668F-4A12-81F2-7C406CC886E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F93B3A-1669-41E7-9EBD-EB1A7B47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15F-3689-45B9-9B4F-EC0507DDDA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9414" y="1717675"/>
            <a:ext cx="11427814" cy="4327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83014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046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494AA491-F1F8-4D38-B722-DB2F38B1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33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>
            <a:extLst>
              <a:ext uri="{FF2B5EF4-FFF2-40B4-BE49-F238E27FC236}">
                <a16:creationId xmlns:a16="http://schemas.microsoft.com/office/drawing/2014/main" id="{0D82E30B-4E95-4B73-9014-71990AE21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60189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02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 descr="Background image placeholder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6" name="GTS_WH">
            <a:extLst>
              <a:ext uri="{FF2B5EF4-FFF2-40B4-BE49-F238E27FC236}">
                <a16:creationId xmlns:a16="http://schemas.microsoft.com/office/drawing/2014/main" id="{5820492B-C4D2-42F2-B2B8-CB1CE70F8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5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64829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>
            <a:extLst>
              <a:ext uri="{FF2B5EF4-FFF2-40B4-BE49-F238E27FC236}">
                <a16:creationId xmlns:a16="http://schemas.microsoft.com/office/drawing/2014/main" id="{C703F910-26EC-4B07-B522-B28DEB82C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656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>
            <a:extLst>
              <a:ext uri="{FF2B5EF4-FFF2-40B4-BE49-F238E27FC236}">
                <a16:creationId xmlns:a16="http://schemas.microsoft.com/office/drawing/2014/main" id="{C6212C50-BB96-4C0C-BC89-2B3C80821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7828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>
            <a:extLst>
              <a:ext uri="{FF2B5EF4-FFF2-40B4-BE49-F238E27FC236}">
                <a16:creationId xmlns:a16="http://schemas.microsoft.com/office/drawing/2014/main" id="{1A7501AC-E717-4CB3-89D9-DEE7B06E1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2890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 descr="Background image placeholder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89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 descr="Background image placeholder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>
            <a:extLst>
              <a:ext uri="{FF2B5EF4-FFF2-40B4-BE49-F238E27FC236}">
                <a16:creationId xmlns:a16="http://schemas.microsoft.com/office/drawing/2014/main" id="{BA79480B-BE6F-49EC-829D-D8AF858A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38400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 descr="Background image placeholder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659D61A8-47A5-47C2-A85A-BCCCBE83C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428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>
            <a:extLst>
              <a:ext uri="{FF2B5EF4-FFF2-40B4-BE49-F238E27FC236}">
                <a16:creationId xmlns:a16="http://schemas.microsoft.com/office/drawing/2014/main" id="{35D3F8C8-B2E5-431B-9639-9F0553086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3199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 descr="Background image placeholder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9A6723-3F53-4981-840E-D1D62874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78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 descr="Background image placeholder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49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10" name="Logo_BL">
            <a:extLst>
              <a:ext uri="{FF2B5EF4-FFF2-40B4-BE49-F238E27FC236}">
                <a16:creationId xmlns:a16="http://schemas.microsoft.com/office/drawing/2014/main" id="{854C139D-5D17-4D1A-87BD-07B345E2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2101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9" name="Logo_BL">
            <a:extLst>
              <a:ext uri="{FF2B5EF4-FFF2-40B4-BE49-F238E27FC236}">
                <a16:creationId xmlns:a16="http://schemas.microsoft.com/office/drawing/2014/main" id="{1C5BF709-3623-4620-9FF0-B8F8076A8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9177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9" name="Logo_BL">
            <a:extLst>
              <a:ext uri="{FF2B5EF4-FFF2-40B4-BE49-F238E27FC236}">
                <a16:creationId xmlns:a16="http://schemas.microsoft.com/office/drawing/2014/main" id="{8D3E8DD1-C700-46AC-AA94-9072B0F31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91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 descr="Background image placeholder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10" name="Logo_BL">
            <a:extLst>
              <a:ext uri="{FF2B5EF4-FFF2-40B4-BE49-F238E27FC236}">
                <a16:creationId xmlns:a16="http://schemas.microsoft.com/office/drawing/2014/main" id="{854C139D-5D17-4D1A-87BD-07B345E2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82537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 descr="Background image placeholder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1DFCC-5489-470C-84F4-93032F09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69054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4B2379EA-B598-42DD-B03E-5C4FC1D46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06573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14" name="GTS_WH">
            <a:extLst>
              <a:ext uri="{FF2B5EF4-FFF2-40B4-BE49-F238E27FC236}">
                <a16:creationId xmlns:a16="http://schemas.microsoft.com/office/drawing/2014/main" id="{3FC0722F-C643-4988-96E8-F00519CB3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646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C5173724-68B6-47CD-B850-71B1407EE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43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247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4454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06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36152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1694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23685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6437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48531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40922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9" name="Content Placeholder 14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99581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757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22931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9298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53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6" name="Picture Placeholder 5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45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317209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324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12449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73697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781F80-F3D9-42F9-B6EE-F6DC303E0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62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774BCE-242F-4FF9-9C01-D01B97743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19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2FF57A0A-C5DD-42B6-8DD3-E5EA041C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1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B0B0C095-6C73-4899-AD8E-8F75768CF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106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AE479463-B4C9-4B9A-BE8B-62B5B9CF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719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6208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2689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79324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ght Left Text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Copyright © 2025 Accenture. All rights reserved.</a:t>
            </a:r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CCDF70-4DCD-DC4B-AC45-ACF84625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71" y="626726"/>
            <a:ext cx="3594804" cy="15019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F69BFA2-96B2-F349-9AA5-A4A9E71ED5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3087" y="3141228"/>
            <a:ext cx="3037642" cy="309582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0"/>
              </a:spcBef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INSERT SUB-TITLE MINIMUM FONT SIZE 14PT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A446033-E2D8-1C47-9597-CCC225CD87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3088" y="3588275"/>
            <a:ext cx="3037642" cy="1880457"/>
          </a:xfrm>
        </p:spPr>
        <p:txBody>
          <a:bodyPr anchor="t"/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non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dolor </a:t>
            </a:r>
            <a:r>
              <a:rPr lang="en-US" err="1"/>
              <a:t>auctor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lacinia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106584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15CF9-0171-42E2-9C83-DD0E6FA49A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B17F2-668F-4A12-81F2-7C406CC886E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F93B3A-1669-41E7-9EBD-EB1A7B47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15F-3689-45B9-9B4F-EC0507DDDA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9414" y="1717675"/>
            <a:ext cx="11427814" cy="4327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724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84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50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8" Type="http://schemas.openxmlformats.org/officeDocument/2006/relationships/slideLayout" Target="../slideLayouts/slideLayout58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>
            <a:extLst>
              <a:ext uri="{FF2B5EF4-FFF2-40B4-BE49-F238E27FC236}">
                <a16:creationId xmlns:a16="http://schemas.microsoft.com/office/drawing/2014/main" id="{AE0355C2-058C-4310-9508-BCC0F498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3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974" r:id="rId49"/>
    <p:sldLayoutId id="2147483975" r:id="rId5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2025 Accenture. All rights reserved.</a:t>
            </a:r>
          </a:p>
        </p:txBody>
      </p:sp>
      <p:sp>
        <p:nvSpPr>
          <p:cNvPr id="9" name="GTS_Purple">
            <a:extLst>
              <a:ext uri="{FF2B5EF4-FFF2-40B4-BE49-F238E27FC236}">
                <a16:creationId xmlns:a16="http://schemas.microsoft.com/office/drawing/2014/main" id="{AE0355C2-058C-4310-9508-BCC0F498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34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  <p:sldLayoutId id="2147483941" r:id="rId18"/>
    <p:sldLayoutId id="2147483942" r:id="rId19"/>
    <p:sldLayoutId id="2147483943" r:id="rId20"/>
    <p:sldLayoutId id="2147483944" r:id="rId21"/>
    <p:sldLayoutId id="2147483945" r:id="rId22"/>
    <p:sldLayoutId id="2147483946" r:id="rId23"/>
    <p:sldLayoutId id="2147483947" r:id="rId24"/>
    <p:sldLayoutId id="2147483948" r:id="rId25"/>
    <p:sldLayoutId id="2147483949" r:id="rId26"/>
    <p:sldLayoutId id="2147483950" r:id="rId27"/>
    <p:sldLayoutId id="2147483951" r:id="rId28"/>
    <p:sldLayoutId id="2147483952" r:id="rId29"/>
    <p:sldLayoutId id="2147483953" r:id="rId30"/>
    <p:sldLayoutId id="2147483954" r:id="rId31"/>
    <p:sldLayoutId id="2147483955" r:id="rId32"/>
    <p:sldLayoutId id="2147483956" r:id="rId33"/>
    <p:sldLayoutId id="2147483957" r:id="rId34"/>
    <p:sldLayoutId id="2147483958" r:id="rId35"/>
    <p:sldLayoutId id="2147483959" r:id="rId36"/>
    <p:sldLayoutId id="2147483960" r:id="rId37"/>
    <p:sldLayoutId id="2147483961" r:id="rId38"/>
    <p:sldLayoutId id="2147483962" r:id="rId39"/>
    <p:sldLayoutId id="2147483963" r:id="rId40"/>
    <p:sldLayoutId id="2147483964" r:id="rId41"/>
    <p:sldLayoutId id="2147483965" r:id="rId42"/>
    <p:sldLayoutId id="2147483966" r:id="rId43"/>
    <p:sldLayoutId id="2147483967" r:id="rId44"/>
    <p:sldLayoutId id="2147483968" r:id="rId45"/>
    <p:sldLayoutId id="2147483969" r:id="rId46"/>
    <p:sldLayoutId id="2147483970" r:id="rId47"/>
    <p:sldLayoutId id="2147483971" r:id="rId48"/>
    <p:sldLayoutId id="2147483972" r:id="rId49"/>
    <p:sldLayoutId id="2147483973" r:id="rId5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9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21.emf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ver.datastories.com/" TargetMode="External"/><Relationship Id="rId2" Type="http://schemas.openxmlformats.org/officeDocument/2006/relationships/hyperlink" Target="https://demo.datastories.com/" TargetMode="External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8.emf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1.emf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ts.accenture.com/sites/VA-ISIT/Projects/Projects_Documentation/Forms/AllItems.aspx?id=%2Fsites%2FVA%2DISIT%2FProjects%2FProjects%5FDocumentation%2FPrairie%202%2FPMI%2F02%2E%20Hosting&amp;viewid=c4162f09%2Ddd2e%2D4bc6%2D9aa5%2D458ee27f6ee6&amp;FolderCTID=0x012000024C3E24EA702246B7EF8F121B9704D5" TargetMode="External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grc.accenture.com/apps/ArcherApp/Home.aspx" TargetMode="External"/><Relationship Id="rId2" Type="http://schemas.openxmlformats.org/officeDocument/2006/relationships/slide" Target="slide25.xml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s.accenture.com/sites/VA-ISIT/Projects/Projects_Documentation/Forms/AllItems.aspx?id=%2Fsites%2FVA%2DISIT%2FProjects%2FProjects%5FDocumentation%2FPrairie%202%2FPMI%2F02%2E%20Hosting&amp;viewid=c4162f09%2Ddd2e%2D4bc6%2D9aa5%2D458ee27f6ee6&amp;FolderCTID=0x012000024C3E24EA702246B7EF8F121B9704D5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ts.accenture.com/sites/Information_Security2/Protecting%20Accenture/Shared%20Documents/Enterprise%20and%20Infrastructure%20Standards/LoggingandAuditngStandard.docx?d=w669a024a00264f058458dd76321a3ca5" TargetMode="External"/><Relationship Id="rId13" Type="http://schemas.openxmlformats.org/officeDocument/2006/relationships/hyperlink" Target="https://ts.accenture.com/sites/Information_Security2/Protecting%20Accenture/Shared%20Documents/Enterprise%20and%20Infrastructure%20Standards/DataClassificationStandard%20v27.docx?d=wf850854a32d04f49bda12cb0a0767755" TargetMode="External"/><Relationship Id="rId18" Type="http://schemas.openxmlformats.org/officeDocument/2006/relationships/hyperlink" Target="https://ts.accenture.com/:w:/r/sites/Information_Security2/Protecting%20Accenture/_layouts/15/Doc.aspx?sourcedoc=%7BE93BD3B4-2EAD-4526-8E84-5E9B5DB23E2A%7D&amp;file=IaasCloudComputingSecurityStandard.docx&amp;action=default&amp;mobileredirect=true&amp;cid=55b17e8f-e379-4235-8660-1f67647e582d" TargetMode="External"/><Relationship Id="rId3" Type="http://schemas.openxmlformats.org/officeDocument/2006/relationships/hyperlink" Target="https://policies.accenture.com/" TargetMode="External"/><Relationship Id="rId7" Type="http://schemas.openxmlformats.org/officeDocument/2006/relationships/hyperlink" Target="https://ts.accenture.com/sites/Information_Security2/Protecting%20Accenture/Shared%20Documents/Enterprise%20and%20Infrastructure%20Standards/IdentificationandAuthenticationStandard2.docx?d=wef50e82561874353b114be188c59e8c3" TargetMode="External"/><Relationship Id="rId12" Type="http://schemas.openxmlformats.org/officeDocument/2006/relationships/hyperlink" Target="https://ts.accenture.com/sites/Information_Security2/Protecting%20Accenture/Shared%20Documents/Enterprise%20and%20Infrastructure%20Standards/EncryptionSecurityStandard.docx?d=wa29fa94770b04388ae505f7a539d0b50" TargetMode="External"/><Relationship Id="rId17" Type="http://schemas.openxmlformats.org/officeDocument/2006/relationships/hyperlink" Target="https://ts.accenture.com/sites/Information_Security/technologyandoperations/Architecture/CloudServicesCatalog" TargetMode="External"/><Relationship Id="rId2" Type="http://schemas.openxmlformats.org/officeDocument/2006/relationships/hyperlink" Target="https://in.accenture.com/protectingaccenture/is-to-operations/architecture-standards/standards/#InfrastructureSecurityStandards" TargetMode="External"/><Relationship Id="rId16" Type="http://schemas.openxmlformats.org/officeDocument/2006/relationships/hyperlink" Target="https://ts.accenture.com/sites/Information_Security4/StandardsControls/StandardsLibrary/Backup%20Security%20Standard.aspx" TargetMode="External"/><Relationship Id="rId20" Type="http://schemas.openxmlformats.org/officeDocument/2006/relationships/hyperlink" Target="https://ts.accenture.com/sites/Information_Security4/StandardsControls/StandardsLibrary/AWS%20Cloud%20Security%20Configuration%20Standard.aspx" TargetMode="External"/><Relationship Id="rId1" Type="http://schemas.openxmlformats.org/officeDocument/2006/relationships/slideLayout" Target="../slideLayouts/slideLayout48.xml"/><Relationship Id="rId6" Type="http://schemas.openxmlformats.org/officeDocument/2006/relationships/hyperlink" Target="https://ts.accenture.com/sites/Information_Security2/Protecting%20Accenture/Shared%20Documents/Enterprise%20and%20Infrastructure%20Standards/AccentureAccessControlStandard.docx?d=wcc3f0aeed4d9421f93b05c8f779c6bec" TargetMode="External"/><Relationship Id="rId11" Type="http://schemas.openxmlformats.org/officeDocument/2006/relationships/hyperlink" Target="https://ts.accenture.com/sites/Information_Security2/Protecting%20Accenture/Shared%20Documents/Enterprise%20and%20Infrastructure%20Standards/AccentureRemoteConsoleAccessStandard.docx?d=w90c55e9b112f46c4b69e63c2e6e51885" TargetMode="External"/><Relationship Id="rId5" Type="http://schemas.openxmlformats.org/officeDocument/2006/relationships/hyperlink" Target="https://in.accenture.com/protectingaccenture/is-to-operations/architecture-standards/standards/" TargetMode="External"/><Relationship Id="rId15" Type="http://schemas.openxmlformats.org/officeDocument/2006/relationships/hyperlink" Target="https://ts.accenture.com/sites/ATISInformationSecurity/GASM/default.aspx" TargetMode="External"/><Relationship Id="rId10" Type="http://schemas.openxmlformats.org/officeDocument/2006/relationships/hyperlink" Target="https://ts.accenture.com/sites/Information_Security2/Protecting%20Accenture/Shared%20Documents/Enterprise%20and%20Infrastructure%20Standards/AccentureRemoteAccessStandard.docx?d=wa70cb0602efa4f078be3303f9f7819e1" TargetMode="External"/><Relationship Id="rId19" Type="http://schemas.openxmlformats.org/officeDocument/2006/relationships/hyperlink" Target="https://ts.accenture.com/:w:/r/sites/Information_Security2/Protecting%20Accenture/_layouts/15/Doc.aspx?sourcedoc=%7BC990942C-8371-41A5-96A8-140557FB1090%7D&amp;file=SaasPaasCloudComputingSecurityStandard.docx&amp;action=default&amp;mobileredirect=true&amp;cid=bcc870ec-f9aa-4a26-bcba-903fd43d6770" TargetMode="External"/><Relationship Id="rId4" Type="http://schemas.openxmlformats.org/officeDocument/2006/relationships/hyperlink" Target="https://policies.accenture.com/policy/0056" TargetMode="External"/><Relationship Id="rId9" Type="http://schemas.openxmlformats.org/officeDocument/2006/relationships/hyperlink" Target="https://ts.accenture.com/sites/Information_Security2/Protecting%20Accenture/Shared%20Documents/Enterprise%20and%20Infrastructure%20Standards/MicrosoftActiveDirectoryStandard.docx?d=w1c54fde27a5d474a9528a1c4fc3f6b79" TargetMode="External"/><Relationship Id="rId14" Type="http://schemas.openxmlformats.org/officeDocument/2006/relationships/hyperlink" Target="https://ts.accenture.com/sites/Infrastructure_Architecture/Standards/TechnologyStandardDocuments/SSL%20VPN%20Architecture%20Standard.zip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Background image of a white futuristic interior">
            <a:extLst>
              <a:ext uri="{FF2B5EF4-FFF2-40B4-BE49-F238E27FC236}">
                <a16:creationId xmlns:a16="http://schemas.microsoft.com/office/drawing/2014/main" id="{3A8D29D7-7CCD-4A5B-A95F-B364072195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43" r="143"/>
          <a:stretch>
            <a:fillRect/>
          </a:stretch>
        </p:blipFill>
        <p:spPr>
          <a:xfrm>
            <a:off x="-15240" y="0"/>
            <a:ext cx="12207240" cy="687628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272D2F1-10EF-46D5-80A8-596A4B4D5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81001"/>
            <a:ext cx="6115049" cy="2476499"/>
          </a:xfrm>
        </p:spPr>
        <p:txBody>
          <a:bodyPr/>
          <a:lstStyle/>
          <a:p>
            <a:r>
              <a:rPr lang="en-US" dirty="0" err="1"/>
              <a:t>DataStories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779DA44-9013-4D31-B10F-78A68A3CB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Hosting Blueprint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B0BAF-8727-4CBF-A8B9-88660DD13F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Date: 21-May-2025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6BE3168-61F2-4FA6-9D03-ECC483912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89526-907E-4E13-846B-575BD26AF5B9}"/>
              </a:ext>
            </a:extLst>
          </p:cNvPr>
          <p:cNvSpPr txBox="1"/>
          <p:nvPr/>
        </p:nvSpPr>
        <p:spPr>
          <a:xfrm>
            <a:off x="7029450" y="6496050"/>
            <a:ext cx="5038725" cy="180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900" noProof="0" dirty="0">
                <a:solidFill>
                  <a:schemeClr val="bg1"/>
                </a:solidFill>
              </a:rPr>
              <a:t>HIGHLY CONFIDENTIAL- FOR COMPANY INTERNAL USE BY AUTHORIZED PERSONNEL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888DD5-03C6-1AC4-129A-650900203AF1}"/>
              </a:ext>
            </a:extLst>
          </p:cNvPr>
          <p:cNvSpPr txBox="1"/>
          <p:nvPr/>
        </p:nvSpPr>
        <p:spPr>
          <a:xfrm>
            <a:off x="6297106" y="5354426"/>
            <a:ext cx="5147034" cy="7040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noProof="0" dirty="0">
                <a:solidFill>
                  <a:schemeClr val="bg1"/>
                </a:solidFill>
              </a:rPr>
              <a:t>Primary: Anand </a:t>
            </a:r>
            <a:r>
              <a:rPr kumimoji="1" lang="en-US" altLang="ja-JP" dirty="0">
                <a:solidFill>
                  <a:schemeClr val="bg1"/>
                </a:solidFill>
              </a:rPr>
              <a:t>M</a:t>
            </a:r>
            <a:r>
              <a:rPr kumimoji="1" lang="en-US" altLang="ja-JP" noProof="0" dirty="0" err="1">
                <a:solidFill>
                  <a:schemeClr val="bg1"/>
                </a:solidFill>
              </a:rPr>
              <a:t>allana</a:t>
            </a:r>
            <a:r>
              <a:rPr kumimoji="1" lang="en-US" altLang="ja-JP" noProof="0" dirty="0">
                <a:solidFill>
                  <a:schemeClr val="bg1"/>
                </a:solidFill>
              </a:rPr>
              <a:t>, Priyank Chatterjee</a:t>
            </a:r>
            <a:br>
              <a:rPr kumimoji="1" lang="en-US" altLang="ja-JP" noProof="0" dirty="0">
                <a:solidFill>
                  <a:schemeClr val="bg1"/>
                </a:solidFill>
              </a:rPr>
            </a:br>
            <a:r>
              <a:rPr kumimoji="1" lang="en-US" altLang="ja-JP" noProof="0" dirty="0">
                <a:solidFill>
                  <a:schemeClr val="bg1"/>
                </a:solidFill>
              </a:rPr>
              <a:t>QA: Anil Nair</a:t>
            </a:r>
            <a:endParaRPr kumimoji="1" lang="ja-JP" alt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28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3C58D7A-1144-40F3-A5A2-E2C8A20B9B2C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itle 2" descr="Agenda title">
            <a:extLst>
              <a:ext uri="{FF2B5EF4-FFF2-40B4-BE49-F238E27FC236}">
                <a16:creationId xmlns:a16="http://schemas.microsoft.com/office/drawing/2014/main" id="{651DC24B-AB70-4983-B766-42BF4110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13" name="Text Placeholder 12" descr="No. 1">
            <a:extLst>
              <a:ext uri="{FF2B5EF4-FFF2-40B4-BE49-F238E27FC236}">
                <a16:creationId xmlns:a16="http://schemas.microsoft.com/office/drawing/2014/main" id="{4EECF1EB-FE9A-4395-9803-48D1366F41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dirty="0"/>
              <a:t>01</a:t>
            </a:r>
            <a:endParaRPr lang="en-US" dirty="0"/>
          </a:p>
        </p:txBody>
      </p:sp>
      <p:sp>
        <p:nvSpPr>
          <p:cNvPr id="5" name="Text Placeholder 4" descr="Agenda Item 1">
            <a:extLst>
              <a:ext uri="{FF2B5EF4-FFF2-40B4-BE49-F238E27FC236}">
                <a16:creationId xmlns:a16="http://schemas.microsoft.com/office/drawing/2014/main" id="{CE422875-EDAA-48FF-A282-26952DB0C5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Executive Summary</a:t>
            </a:r>
            <a:endParaRPr lang="en-US" dirty="0"/>
          </a:p>
        </p:txBody>
      </p:sp>
      <p:sp>
        <p:nvSpPr>
          <p:cNvPr id="16" name="Text Placeholder 15" descr="No. 4">
            <a:extLst>
              <a:ext uri="{FF2B5EF4-FFF2-40B4-BE49-F238E27FC236}">
                <a16:creationId xmlns:a16="http://schemas.microsoft.com/office/drawing/2014/main" id="{E9921B81-A763-4EA2-AC60-D1AEB3C65E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lvl="0"/>
            <a:r>
              <a:rPr lang="en-GB" dirty="0"/>
              <a:t>03</a:t>
            </a:r>
            <a:endParaRPr lang="en-US" dirty="0"/>
          </a:p>
        </p:txBody>
      </p:sp>
      <p:sp>
        <p:nvSpPr>
          <p:cNvPr id="8" name="Text Placeholder 7" descr="Agenda Item 4">
            <a:extLst>
              <a:ext uri="{FF2B5EF4-FFF2-40B4-BE49-F238E27FC236}">
                <a16:creationId xmlns:a16="http://schemas.microsoft.com/office/drawing/2014/main" id="{500B9542-3140-4DAC-81AA-3DECE8BBA0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sp>
        <p:nvSpPr>
          <p:cNvPr id="18" name="Text Placeholder 17" descr="No. 6">
            <a:extLst>
              <a:ext uri="{FF2B5EF4-FFF2-40B4-BE49-F238E27FC236}">
                <a16:creationId xmlns:a16="http://schemas.microsoft.com/office/drawing/2014/main" id="{4280AB87-8516-4AC1-804E-704DD95DF30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lvl="0"/>
            <a:r>
              <a:rPr lang="en-GB" dirty="0"/>
              <a:t>05</a:t>
            </a:r>
            <a:endParaRPr lang="en-US" dirty="0"/>
          </a:p>
        </p:txBody>
      </p:sp>
      <p:sp>
        <p:nvSpPr>
          <p:cNvPr id="10" name="Text Placeholder 9" descr="Agenda Item 6">
            <a:extLst>
              <a:ext uri="{FF2B5EF4-FFF2-40B4-BE49-F238E27FC236}">
                <a16:creationId xmlns:a16="http://schemas.microsoft.com/office/drawing/2014/main" id="{957E685F-2D7B-47FC-B5C9-F7D7083B14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GB" dirty="0"/>
              <a:t>Appendix</a:t>
            </a:r>
            <a:endParaRPr lang="en-US" dirty="0"/>
          </a:p>
        </p:txBody>
      </p:sp>
      <p:sp>
        <p:nvSpPr>
          <p:cNvPr id="29" name="Text Placeholder 28" descr="No. 9">
            <a:extLst>
              <a:ext uri="{FF2B5EF4-FFF2-40B4-BE49-F238E27FC236}">
                <a16:creationId xmlns:a16="http://schemas.microsoft.com/office/drawing/2014/main" id="{A4B967A4-9715-47F7-AE1B-2992B282E40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lvl="0"/>
            <a:r>
              <a:rPr lang="en-GB" dirty="0"/>
              <a:t>02</a:t>
            </a:r>
            <a:endParaRPr lang="en-US" dirty="0"/>
          </a:p>
        </p:txBody>
      </p:sp>
      <p:sp>
        <p:nvSpPr>
          <p:cNvPr id="21" name="Text Placeholder 20" descr="Agenda Item 9">
            <a:extLst>
              <a:ext uri="{FF2B5EF4-FFF2-40B4-BE49-F238E27FC236}">
                <a16:creationId xmlns:a16="http://schemas.microsoft.com/office/drawing/2014/main" id="{C0A49B54-BC4A-476F-A603-5BE17A7A85B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Hosting Integration Plans </a:t>
            </a:r>
          </a:p>
        </p:txBody>
      </p:sp>
      <p:sp>
        <p:nvSpPr>
          <p:cNvPr id="32" name="Text Placeholder 31" descr="No. 12">
            <a:extLst>
              <a:ext uri="{FF2B5EF4-FFF2-40B4-BE49-F238E27FC236}">
                <a16:creationId xmlns:a16="http://schemas.microsoft.com/office/drawing/2014/main" id="{ACBB4BBA-9EA8-48E4-90F1-3AD8B74A5B2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lvl="0"/>
            <a:r>
              <a:rPr lang="en-GB" dirty="0"/>
              <a:t>04</a:t>
            </a:r>
            <a:endParaRPr lang="en-US" dirty="0"/>
          </a:p>
        </p:txBody>
      </p:sp>
      <p:sp>
        <p:nvSpPr>
          <p:cNvPr id="24" name="Text Placeholder 23" descr="Agenda Item 12">
            <a:extLst>
              <a:ext uri="{FF2B5EF4-FFF2-40B4-BE49-F238E27FC236}">
                <a16:creationId xmlns:a16="http://schemas.microsoft.com/office/drawing/2014/main" id="{EFAA4D69-1078-4AFD-AB1E-0CAAA0E6D1A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 dirty="0"/>
              <a:t>Website Migration</a:t>
            </a:r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03741C61-192B-4BFE-AEFD-61F9F96359DB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6D5D1D-8129-4D5F-A575-CBCE2F33A9D9}"/>
              </a:ext>
            </a:extLst>
          </p:cNvPr>
          <p:cNvSpPr txBox="1"/>
          <p:nvPr/>
        </p:nvSpPr>
        <p:spPr>
          <a:xfrm>
            <a:off x="4966971" y="1879560"/>
            <a:ext cx="2005329" cy="7808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Integration Overview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Integration process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Integration Milestones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6E81D3-E414-44E2-97BA-A9C7F06EEA34}"/>
              </a:ext>
            </a:extLst>
          </p:cNvPr>
          <p:cNvSpPr txBox="1"/>
          <p:nvPr/>
        </p:nvSpPr>
        <p:spPr>
          <a:xfrm>
            <a:off x="8857959" y="1884710"/>
            <a:ext cx="2953039" cy="1380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Inventory and Assessment Summary 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Locations Overview 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Infrastructure Logical Diagram 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High Level Integration Plan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Hosting Integration Considerations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Risk and Dependencies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Key Assumptions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EDEA4A-F6F8-4486-98DA-979F446BE8CF}"/>
              </a:ext>
            </a:extLst>
          </p:cNvPr>
          <p:cNvSpPr txBox="1"/>
          <p:nvPr/>
        </p:nvSpPr>
        <p:spPr>
          <a:xfrm>
            <a:off x="4966971" y="3592538"/>
            <a:ext cx="2893088" cy="6048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Hosting Integration Budget Details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F28F63-ABDC-41B9-B847-731C81B98644}"/>
              </a:ext>
            </a:extLst>
          </p:cNvPr>
          <p:cNvSpPr txBox="1"/>
          <p:nvPr/>
        </p:nvSpPr>
        <p:spPr>
          <a:xfrm>
            <a:off x="8857959" y="3666995"/>
            <a:ext cx="2095791" cy="4063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Website Migration Plan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B1F6D1-1275-4B3E-AB0B-E062C4A7C86C}"/>
              </a:ext>
            </a:extLst>
          </p:cNvPr>
          <p:cNvSpPr txBox="1"/>
          <p:nvPr/>
        </p:nvSpPr>
        <p:spPr>
          <a:xfrm>
            <a:off x="4966971" y="4802487"/>
            <a:ext cx="1900554" cy="6839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Success Criteria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Support matrix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Contacts</a:t>
            </a:r>
          </a:p>
          <a:p>
            <a:pPr marL="285750" indent="-285750" algn="l" defTabSz="228600">
              <a:buFont typeface="Wingdings" panose="05000000000000000000" pitchFamily="2" charset="2"/>
              <a:buChar char="§"/>
            </a:pPr>
            <a:r>
              <a:rPr lang="en-US" sz="1200" noProof="0" dirty="0"/>
              <a:t>Additional Materials</a:t>
            </a:r>
          </a:p>
        </p:txBody>
      </p:sp>
    </p:spTree>
    <p:extLst>
      <p:ext uri="{BB962C8B-B14F-4D97-AF65-F5344CB8AC3E}">
        <p14:creationId xmlns:p14="http://schemas.microsoft.com/office/powerpoint/2010/main" val="136854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2EBC-A356-4477-A2E0-6029736304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76CF-9290-46E6-AEF6-2CE39CA734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3600" dirty="0"/>
              <a:t>Executive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32B0-073F-4560-8E57-795244EFB7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5163" y="3675309"/>
            <a:ext cx="6841673" cy="2422071"/>
          </a:xfrm>
        </p:spPr>
        <p:txBody>
          <a:bodyPr/>
          <a:lstStyle/>
          <a:p>
            <a:r>
              <a:rPr lang="en-US" sz="2800" dirty="0"/>
              <a:t>Hosting Integration Overview</a:t>
            </a:r>
          </a:p>
          <a:p>
            <a:r>
              <a:rPr lang="en-US" sz="2800" dirty="0"/>
              <a:t>Hosting Integration Process &amp; Timelines</a:t>
            </a:r>
          </a:p>
          <a:p>
            <a:r>
              <a:rPr lang="en-US" sz="2800" dirty="0"/>
              <a:t>Hosting Integration Milestones</a:t>
            </a:r>
          </a:p>
          <a:p>
            <a:endParaRPr lang="en-US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5819-DF70-49ED-B32F-D7C5F04EF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1102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4940B-0202-294C-9156-D80E3F472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 dirty="0"/>
              <a:t>Copyright © 2025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5B346-4D5B-424D-AB2D-0F113DDD193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76822B1B-8DA2-334B-965D-CE2D0464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836" y="180067"/>
            <a:ext cx="6228328" cy="401648"/>
          </a:xfrm>
        </p:spPr>
        <p:txBody>
          <a:bodyPr wrap="square">
            <a:spAutoFit/>
          </a:bodyPr>
          <a:lstStyle/>
          <a:p>
            <a:r>
              <a:rPr lang="en-US" sz="2900" dirty="0"/>
              <a:t>Hosting Integration </a:t>
            </a:r>
            <a:r>
              <a:rPr lang="en-US" sz="2900" dirty="0">
                <a:solidFill>
                  <a:schemeClr val="accent1"/>
                </a:solidFill>
              </a:rPr>
              <a:t>Overview</a:t>
            </a:r>
          </a:p>
        </p:txBody>
      </p:sp>
      <p:graphicFrame>
        <p:nvGraphicFramePr>
          <p:cNvPr id="12" name="Table Placeholder 8">
            <a:extLst>
              <a:ext uri="{FF2B5EF4-FFF2-40B4-BE49-F238E27FC236}">
                <a16:creationId xmlns:a16="http://schemas.microsoft.com/office/drawing/2014/main" id="{B3A23DCE-DA31-4924-9BC4-23015D61A1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4085928"/>
              </p:ext>
            </p:extLst>
          </p:nvPr>
        </p:nvGraphicFramePr>
        <p:xfrm>
          <a:off x="959192" y="858764"/>
          <a:ext cx="5803558" cy="136485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841283">
                  <a:extLst>
                    <a:ext uri="{9D8B030D-6E8A-4147-A177-3AD203B41FA5}">
                      <a16:colId xmlns:a16="http://schemas.microsoft.com/office/drawing/2014/main" val="1327008375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3437386784"/>
                    </a:ext>
                  </a:extLst>
                </a:gridCol>
              </a:tblGrid>
              <a:tr h="290052"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TYPE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1200" kern="120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DESTINATION</a:t>
                      </a:r>
                      <a:endParaRPr lang="en-AU" sz="1200" b="1" i="0" kern="1200" dirty="0">
                        <a:solidFill>
                          <a:schemeClr val="tx1"/>
                        </a:solidFill>
                        <a:latin typeface="Graphik" panose="020B0503030202060203" pitchFamily="34" charset="77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2913407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spc="0" baseline="0" dirty="0">
                          <a:solidFill>
                            <a:schemeClr val="tx1"/>
                          </a:solidFill>
                          <a:effectLst/>
                          <a:latin typeface="Graphik" panose="020B0503030202060203" pitchFamily="34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 Cloud subscriptions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spc="0" baseline="0" dirty="0">
                          <a:solidFill>
                            <a:schemeClr val="tx1"/>
                          </a:solidFill>
                          <a:effectLst/>
                          <a:latin typeface="Graphik" panose="020B0503030202060203" pitchFamily="34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AWS account to be moved to Accenture platforms.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5501356"/>
                  </a:ext>
                </a:extLst>
              </a:tr>
              <a:tr h="259503">
                <a:tc>
                  <a:txBody>
                    <a:bodyPr/>
                    <a:lstStyle/>
                    <a:p>
                      <a:pPr marL="0" marR="0" algn="l" defTabSz="1218987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kern="1200" spc="0" baseline="0" dirty="0">
                          <a:solidFill>
                            <a:schemeClr val="tx1"/>
                          </a:solidFill>
                          <a:effectLst/>
                          <a:latin typeface="Graphik" panose="020B0503030202060203" pitchFamily="34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Website Hosting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 defTabSz="1218987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kern="1200" spc="0" baseline="0" dirty="0">
                          <a:solidFill>
                            <a:schemeClr val="tx1"/>
                          </a:solidFill>
                          <a:effectLst/>
                          <a:latin typeface="Graphik" panose="020B0503030202060203" pitchFamily="34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 kern="1200" spc="0" baseline="30000" dirty="0">
                          <a:solidFill>
                            <a:schemeClr val="tx1"/>
                          </a:solidFill>
                          <a:effectLst/>
                          <a:latin typeface="Graphik" panose="020B0503030202060203" pitchFamily="34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en-US" sz="1100" b="0" i="0" kern="1200" spc="0" baseline="0" dirty="0">
                          <a:solidFill>
                            <a:schemeClr val="tx1"/>
                          </a:solidFill>
                          <a:effectLst/>
                          <a:latin typeface="Graphik" panose="020B0503030202060203" pitchFamily="34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party hosted sites to be decommissioned. AWS hosted sites to be retained.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606161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C4B3527-06E7-4473-BBCC-EDBBA6E4E93D}"/>
              </a:ext>
            </a:extLst>
          </p:cNvPr>
          <p:cNvSpPr txBox="1"/>
          <p:nvPr/>
        </p:nvSpPr>
        <p:spPr>
          <a:xfrm rot="16200000">
            <a:off x="6732" y="1380295"/>
            <a:ext cx="1638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Graphik" panose="020B0503030202060203" pitchFamily="34" charset="77"/>
              </a:rPr>
              <a:t>SERVICES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96C247-AFFC-4E41-609F-2FD6A2950181}"/>
              </a:ext>
            </a:extLst>
          </p:cNvPr>
          <p:cNvCxnSpPr/>
          <p:nvPr/>
        </p:nvCxnSpPr>
        <p:spPr>
          <a:xfrm>
            <a:off x="5981700" y="2497143"/>
            <a:ext cx="0" cy="387508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8BF23B-67A8-D842-840E-C25803338593}"/>
              </a:ext>
            </a:extLst>
          </p:cNvPr>
          <p:cNvSpPr txBox="1"/>
          <p:nvPr/>
        </p:nvSpPr>
        <p:spPr>
          <a:xfrm>
            <a:off x="5284134" y="6546811"/>
            <a:ext cx="647700" cy="15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900" i="1" noProof="0" dirty="0"/>
              <a:t>In USD $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B98185-41E8-A558-4ECF-18FF1BB33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601" y="2332290"/>
            <a:ext cx="4667901" cy="41058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F4276A-0CD9-25AD-7F31-26A7E71F6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68" y="2321113"/>
            <a:ext cx="4391638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9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C44BC5-FC48-4F48-A141-6EA96BCD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636" y="191169"/>
            <a:ext cx="11460472" cy="498598"/>
          </a:xfrm>
        </p:spPr>
        <p:txBody>
          <a:bodyPr/>
          <a:lstStyle/>
          <a:p>
            <a:r>
              <a:rPr lang="en-US" dirty="0"/>
              <a:t>Hosting Integration </a:t>
            </a:r>
            <a:r>
              <a:rPr lang="en-US" dirty="0">
                <a:solidFill>
                  <a:schemeClr val="accent2"/>
                </a:solidFill>
              </a:rPr>
              <a:t>Process &amp; Timelines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BAE0E-BBBD-41CF-992F-F13FAEE7E6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43413" y="6597799"/>
            <a:ext cx="3175200" cy="132523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A778B-BB71-44DF-97C0-28D80FAD98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27813" y="5886690"/>
            <a:ext cx="381600" cy="132523"/>
          </a:xfrm>
        </p:spPr>
        <p:txBody>
          <a:bodyPr/>
          <a:lstStyle/>
          <a:p>
            <a:fld id="{876872E1-3CB8-45EA-A826-1429BD5BE353}" type="slidenum">
              <a:rPr lang="en-CA" sz="1200" smtClean="0"/>
              <a:pPr/>
              <a:t>5</a:t>
            </a:fld>
            <a:endParaRPr lang="en-CA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5D00F6-B300-4A3F-9668-ABB241FAB74B}"/>
              </a:ext>
            </a:extLst>
          </p:cNvPr>
          <p:cNvSpPr txBox="1"/>
          <p:nvPr/>
        </p:nvSpPr>
        <p:spPr>
          <a:xfrm>
            <a:off x="348941" y="1139278"/>
            <a:ext cx="2356820" cy="647850"/>
          </a:xfrm>
          <a:prstGeom prst="homePlate">
            <a:avLst>
              <a:gd name="adj" fmla="val 26481"/>
            </a:avLst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75" tIns="45706" rIns="107975" bIns="45706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AU" sz="1600" b="1" cap="all" dirty="0">
                <a:solidFill>
                  <a:schemeClr val="tx1"/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Inventory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69592-C273-4B4D-B9F5-69DEB3FBB114}"/>
              </a:ext>
            </a:extLst>
          </p:cNvPr>
          <p:cNvSpPr txBox="1"/>
          <p:nvPr/>
        </p:nvSpPr>
        <p:spPr>
          <a:xfrm>
            <a:off x="2612783" y="1139279"/>
            <a:ext cx="2411442" cy="647850"/>
          </a:xfrm>
          <a:prstGeom prst="chevron">
            <a:avLst>
              <a:gd name="adj" fmla="val 26481"/>
            </a:avLst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45706" rIns="71983" bIns="45706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AU" sz="1600" b="1" cap="all" dirty="0">
                <a:solidFill>
                  <a:schemeClr val="tx1"/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Blueprint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1554B-A098-4670-87F7-3827D0DFF990}"/>
              </a:ext>
            </a:extLst>
          </p:cNvPr>
          <p:cNvSpPr txBox="1"/>
          <p:nvPr/>
        </p:nvSpPr>
        <p:spPr>
          <a:xfrm>
            <a:off x="4931253" y="1139279"/>
            <a:ext cx="2411437" cy="647850"/>
          </a:xfrm>
          <a:prstGeom prst="chevron">
            <a:avLst>
              <a:gd name="adj" fmla="val 26481"/>
            </a:avLst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45706" rIns="71983" bIns="45706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AU" sz="1200" b="1" cap="all" dirty="0">
                <a:solidFill>
                  <a:schemeClr val="tx1"/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Build/create destination hosting &amp; Training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63231-50B8-46F3-A34E-219A4B0B6892}"/>
              </a:ext>
            </a:extLst>
          </p:cNvPr>
          <p:cNvSpPr txBox="1"/>
          <p:nvPr/>
        </p:nvSpPr>
        <p:spPr>
          <a:xfrm>
            <a:off x="7249718" y="1139279"/>
            <a:ext cx="2411442" cy="647850"/>
          </a:xfrm>
          <a:prstGeom prst="chevron">
            <a:avLst>
              <a:gd name="adj" fmla="val 24914"/>
            </a:avLst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45706" rIns="71983" bIns="45706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AU" sz="1400" b="1" cap="all" dirty="0">
                <a:solidFill>
                  <a:schemeClr val="tx1"/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Migration/</a:t>
            </a:r>
          </a:p>
          <a:p>
            <a:pPr>
              <a:lnSpc>
                <a:spcPct val="90000"/>
              </a:lnSpc>
            </a:pPr>
            <a:r>
              <a:rPr lang="en-AU" sz="1400" b="1" cap="all" dirty="0">
                <a:solidFill>
                  <a:schemeClr val="tx1"/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Integration  &amp; compliance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62D84-5CA5-4216-A9E5-E3ED0946D1D4}"/>
              </a:ext>
            </a:extLst>
          </p:cNvPr>
          <p:cNvSpPr txBox="1"/>
          <p:nvPr/>
        </p:nvSpPr>
        <p:spPr>
          <a:xfrm>
            <a:off x="9568183" y="1139278"/>
            <a:ext cx="2411442" cy="647850"/>
          </a:xfrm>
          <a:prstGeom prst="chevron">
            <a:avLst>
              <a:gd name="adj" fmla="val 24914"/>
            </a:avLst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3" tIns="45706" rIns="71983" bIns="45706" rtlCol="0" anchor="ctr"/>
          <a:lstStyle>
            <a:defPPr>
              <a:defRPr lang="en-US"/>
            </a:defPPr>
            <a:lvl1pPr defTabSz="912776">
              <a:defRPr>
                <a:solidFill>
                  <a:prstClr val="white"/>
                </a:solidFill>
                <a:latin typeface="+mj-lt"/>
                <a:ea typeface="Roboto" panose="02000000000000000000" pitchFamily="2" charset="0"/>
                <a:cs typeface="Gotham Light" pitchFamily="2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AU" sz="1600" b="1" cap="all" dirty="0">
                <a:solidFill>
                  <a:schemeClr val="tx1"/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operations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561418-50A7-483A-9742-15C1407D6C6A}"/>
              </a:ext>
            </a:extLst>
          </p:cNvPr>
          <p:cNvSpPr/>
          <p:nvPr/>
        </p:nvSpPr>
        <p:spPr>
          <a:xfrm>
            <a:off x="209467" y="2029872"/>
            <a:ext cx="2110251" cy="231588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Complete hosting compute &amp; storage inventory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Decide on disposition of inventory VMs and storage.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Graphik" panose="020B0503030202060203" pitchFamily="34" charset="77"/>
                <a:cs typeface="Arial" panose="020B0604020202020204" pitchFamily="34" charset="0"/>
              </a:rPr>
              <a:t>Apply SOC tools &amp; remediate open vulnerabilities. This is in scope for Security workstream.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E9BB7-E50E-49E0-92D8-837B5E99D743}"/>
              </a:ext>
            </a:extLst>
          </p:cNvPr>
          <p:cNvSpPr/>
          <p:nvPr/>
        </p:nvSpPr>
        <p:spPr>
          <a:xfrm>
            <a:off x="2549146" y="2029874"/>
            <a:ext cx="2110251" cy="255155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Based on inventory, write hosting integration blueprint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Blueprint details retention and decommissioning.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D8A2B-8502-4C7B-B783-492CB38CBCA0}"/>
              </a:ext>
            </a:extLst>
          </p:cNvPr>
          <p:cNvSpPr/>
          <p:nvPr/>
        </p:nvSpPr>
        <p:spPr>
          <a:xfrm>
            <a:off x="4659397" y="2029873"/>
            <a:ext cx="2569108" cy="32962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Based on blueprint: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Build private cloud per Accenture standard as required.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Train project for CMO onboarding as needed.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Create public cloud accounts as needed.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Create local hosting exception if required.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2FE961-4389-417C-8DA6-53B77CBBCECE}"/>
              </a:ext>
            </a:extLst>
          </p:cNvPr>
          <p:cNvSpPr/>
          <p:nvPr/>
        </p:nvSpPr>
        <p:spPr>
          <a:xfrm>
            <a:off x="7228505" y="2029873"/>
            <a:ext cx="2110251" cy="321196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Private cloud migration 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Public cloud integration 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Local hosting exception 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Web hosting integration/migration per blueprint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All the above must be compliant with Accenture Security standards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2FEDD0-8CD0-4691-BAB6-56DCF7B654CA}"/>
              </a:ext>
            </a:extLst>
          </p:cNvPr>
          <p:cNvSpPr/>
          <p:nvPr/>
        </p:nvSpPr>
        <p:spPr>
          <a:xfrm>
            <a:off x="9568183" y="2029873"/>
            <a:ext cx="2411442" cy="38568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Hosting compute and storage in end state per Accenture standard. 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UAT complete.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SOC dashboard training (compliance with all IS policies) complete.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Graphik" panose="020B0503030202060203" pitchFamily="34" charset="77"/>
                <a:cs typeface="Arial" panose="020B0604020202020204" pitchFamily="34" charset="0"/>
              </a:rPr>
              <a:t>Support RACI agreed  by stakeholders. 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200" dirty="0">
              <a:latin typeface="Graphik" panose="020B0503030202060203" pitchFamily="34" charset="77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2008C2-567E-4D73-8078-704D5B924A56}"/>
              </a:ext>
            </a:extLst>
          </p:cNvPr>
          <p:cNvGrpSpPr/>
          <p:nvPr/>
        </p:nvGrpSpPr>
        <p:grpSpPr>
          <a:xfrm>
            <a:off x="348940" y="5086653"/>
            <a:ext cx="3487489" cy="795865"/>
            <a:chOff x="3273" y="0"/>
            <a:chExt cx="3284070" cy="795865"/>
          </a:xfrm>
        </p:grpSpPr>
        <p:sp>
          <p:nvSpPr>
            <p:cNvPr id="35" name="Arrow: Pentagon 34">
              <a:extLst>
                <a:ext uri="{FF2B5EF4-FFF2-40B4-BE49-F238E27FC236}">
                  <a16:creationId xmlns:a16="http://schemas.microsoft.com/office/drawing/2014/main" id="{D63C949C-5E54-4EF0-86CF-53BD9915A711}"/>
                </a:ext>
              </a:extLst>
            </p:cNvPr>
            <p:cNvSpPr/>
            <p:nvPr/>
          </p:nvSpPr>
          <p:spPr>
            <a:xfrm>
              <a:off x="3273" y="0"/>
              <a:ext cx="3284070" cy="795865"/>
            </a:xfrm>
            <a:prstGeom prst="homePlate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6" name="Arrow: Pentagon 4">
              <a:extLst>
                <a:ext uri="{FF2B5EF4-FFF2-40B4-BE49-F238E27FC236}">
                  <a16:creationId xmlns:a16="http://schemas.microsoft.com/office/drawing/2014/main" id="{32003D6B-328B-4E65-8D07-B3C03132F9DB}"/>
                </a:ext>
              </a:extLst>
            </p:cNvPr>
            <p:cNvSpPr txBox="1"/>
            <p:nvPr/>
          </p:nvSpPr>
          <p:spPr>
            <a:xfrm>
              <a:off x="3273" y="0"/>
              <a:ext cx="3184587" cy="7958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5855" tIns="33020" rIns="463419" bIns="33020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/>
                <a:t>Close +1 Month 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/>
                <a:t>Hosting Inventory</a:t>
              </a:r>
            </a:p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10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EB9F5B-16D1-4165-93E8-39904175C7F1}"/>
              </a:ext>
            </a:extLst>
          </p:cNvPr>
          <p:cNvGrpSpPr/>
          <p:nvPr/>
        </p:nvGrpSpPr>
        <p:grpSpPr>
          <a:xfrm>
            <a:off x="2976197" y="5086653"/>
            <a:ext cx="2601249" cy="795865"/>
            <a:chOff x="2630529" y="0"/>
            <a:chExt cx="3284070" cy="795865"/>
          </a:xfrm>
        </p:grpSpPr>
        <p:sp>
          <p:nvSpPr>
            <p:cNvPr id="33" name="Arrow: Chevron 32">
              <a:extLst>
                <a:ext uri="{FF2B5EF4-FFF2-40B4-BE49-F238E27FC236}">
                  <a16:creationId xmlns:a16="http://schemas.microsoft.com/office/drawing/2014/main" id="{BFF828BD-0AC8-435C-B086-0131FFDC9F6D}"/>
                </a:ext>
              </a:extLst>
            </p:cNvPr>
            <p:cNvSpPr/>
            <p:nvPr/>
          </p:nvSpPr>
          <p:spPr>
            <a:xfrm>
              <a:off x="2630529" y="0"/>
              <a:ext cx="3284070" cy="795865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-750305"/>
                <a:satOff val="20408"/>
                <a:lumOff val="7843"/>
                <a:alphaOff val="0"/>
              </a:schemeClr>
            </a:fillRef>
            <a:effectRef idx="0">
              <a:schemeClr val="accent4">
                <a:hueOff val="-750305"/>
                <a:satOff val="20408"/>
                <a:lumOff val="784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4" name="Arrow: Chevron 6">
              <a:extLst>
                <a:ext uri="{FF2B5EF4-FFF2-40B4-BE49-F238E27FC236}">
                  <a16:creationId xmlns:a16="http://schemas.microsoft.com/office/drawing/2014/main" id="{F3466BE8-5103-423D-9854-0994CB1168F7}"/>
                </a:ext>
              </a:extLst>
            </p:cNvPr>
            <p:cNvSpPr txBox="1"/>
            <p:nvPr/>
          </p:nvSpPr>
          <p:spPr>
            <a:xfrm>
              <a:off x="2829495" y="0"/>
              <a:ext cx="2886138" cy="7958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5855" tIns="33020" rIns="115855" bIns="33020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/>
                <a:t>Close +2 Months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/>
                <a:t>Hosting Blueprint</a:t>
              </a:r>
            </a:p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1000" kern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25405B-C17C-4A8F-A127-572BDFAA8E4F}"/>
              </a:ext>
            </a:extLst>
          </p:cNvPr>
          <p:cNvGrpSpPr/>
          <p:nvPr/>
        </p:nvGrpSpPr>
        <p:grpSpPr>
          <a:xfrm>
            <a:off x="5020692" y="5082481"/>
            <a:ext cx="3284070" cy="795865"/>
            <a:chOff x="5262239" y="0"/>
            <a:chExt cx="3284070" cy="795865"/>
          </a:xfrm>
        </p:grpSpPr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FDA7D86E-A16F-4973-8DAB-C0C0396AE0AB}"/>
                </a:ext>
              </a:extLst>
            </p:cNvPr>
            <p:cNvSpPr/>
            <p:nvPr/>
          </p:nvSpPr>
          <p:spPr>
            <a:xfrm>
              <a:off x="5262239" y="0"/>
              <a:ext cx="3284070" cy="795865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-1500610"/>
                <a:satOff val="40816"/>
                <a:lumOff val="15686"/>
                <a:alphaOff val="0"/>
              </a:schemeClr>
            </a:fillRef>
            <a:effectRef idx="0">
              <a:schemeClr val="accent4">
                <a:hueOff val="-1500610"/>
                <a:satOff val="40816"/>
                <a:lumOff val="1568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2" name="Arrow: Chevron 8">
              <a:extLst>
                <a:ext uri="{FF2B5EF4-FFF2-40B4-BE49-F238E27FC236}">
                  <a16:creationId xmlns:a16="http://schemas.microsoft.com/office/drawing/2014/main" id="{84B05DFC-F045-4BF5-ACED-B3240993129B}"/>
                </a:ext>
              </a:extLst>
            </p:cNvPr>
            <p:cNvSpPr txBox="1"/>
            <p:nvPr/>
          </p:nvSpPr>
          <p:spPr>
            <a:xfrm>
              <a:off x="5461205" y="0"/>
              <a:ext cx="2886138" cy="7958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5855" tIns="33020" rIns="115855" bIns="33020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/>
                <a:t>Close +4 Months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/>
                <a:t>Infrastructure Build</a:t>
              </a:r>
            </a:p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US" sz="1000" kern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BF9C4B-E2B0-409A-982F-2F6A7ADFAD06}"/>
              </a:ext>
            </a:extLst>
          </p:cNvPr>
          <p:cNvGrpSpPr/>
          <p:nvPr/>
        </p:nvGrpSpPr>
        <p:grpSpPr>
          <a:xfrm>
            <a:off x="7517073" y="5078309"/>
            <a:ext cx="3897772" cy="795865"/>
            <a:chOff x="7885042" y="0"/>
            <a:chExt cx="3284070" cy="795865"/>
          </a:xfrm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AE7F6381-960E-4D8F-AE5D-B133C0FA4D1D}"/>
                </a:ext>
              </a:extLst>
            </p:cNvPr>
            <p:cNvSpPr/>
            <p:nvPr/>
          </p:nvSpPr>
          <p:spPr>
            <a:xfrm>
              <a:off x="7885042" y="0"/>
              <a:ext cx="3284070" cy="795865"/>
            </a:xfrm>
            <a:prstGeom prst="chevron">
              <a:avLst>
                <a:gd name="adj" fmla="val 25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-2250916"/>
                <a:satOff val="61224"/>
                <a:lumOff val="23529"/>
                <a:alphaOff val="0"/>
              </a:schemeClr>
            </a:fillRef>
            <a:effectRef idx="0">
              <a:schemeClr val="accent4">
                <a:hueOff val="-2250916"/>
                <a:satOff val="61224"/>
                <a:lumOff val="2352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0" name="Arrow: Chevron 10">
              <a:extLst>
                <a:ext uri="{FF2B5EF4-FFF2-40B4-BE49-F238E27FC236}">
                  <a16:creationId xmlns:a16="http://schemas.microsoft.com/office/drawing/2014/main" id="{68E667B5-D434-44B2-B7FD-07DA59AB67F6}"/>
                </a:ext>
              </a:extLst>
            </p:cNvPr>
            <p:cNvSpPr txBox="1"/>
            <p:nvPr/>
          </p:nvSpPr>
          <p:spPr>
            <a:xfrm>
              <a:off x="8084008" y="0"/>
              <a:ext cx="2886138" cy="7958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5855" tIns="33020" rIns="115855" bIns="33020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/>
                <a:t>Close +6 Months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/>
                <a:t>Migration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/>
                <a:t>Testing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000" kern="1200" dirty="0"/>
                <a:t>Decommissioning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492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18F0DB-F55F-4DA3-AA91-C47A3AFE6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D02F6-0CA5-4A5C-98AB-1CC1E1891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A64BB2-1EF3-438D-AEA6-B11CD4AA7C39}"/>
              </a:ext>
            </a:extLst>
          </p:cNvPr>
          <p:cNvSpPr txBox="1">
            <a:spLocks/>
          </p:cNvSpPr>
          <p:nvPr/>
        </p:nvSpPr>
        <p:spPr>
          <a:xfrm>
            <a:off x="365764" y="286419"/>
            <a:ext cx="11460472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Hosting Integration </a:t>
            </a:r>
            <a:r>
              <a:rPr lang="en-US" dirty="0">
                <a:solidFill>
                  <a:schemeClr val="accent2"/>
                </a:solidFill>
              </a:rPr>
              <a:t>Milestones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D58BE-9E0E-0AD4-6160-70DBAEBAD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799733"/>
            <a:ext cx="11669754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5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FC063827-AEA4-448D-963C-ECEB84C695F6}"/>
              </a:ext>
            </a:extLst>
          </p:cNvPr>
          <p:cNvSpPr/>
          <p:nvPr/>
        </p:nvSpPr>
        <p:spPr>
          <a:xfrm>
            <a:off x="3557557" y="2501596"/>
            <a:ext cx="570072" cy="783447"/>
          </a:xfrm>
          <a:prstGeom prst="chevron">
            <a:avLst/>
          </a:prstGeom>
          <a:pattFill prst="dkUpDiag">
            <a:fgClr>
              <a:srgbClr val="96968C">
                <a:lumMod val="40000"/>
                <a:lumOff val="60000"/>
              </a:srgbClr>
            </a:fgClr>
            <a:bgClr>
              <a:srgbClr val="FFFFFF"/>
            </a:bgClr>
          </a:patt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F3D09964-6CAB-48ED-926C-672C376E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05" y="245992"/>
            <a:ext cx="9620911" cy="498598"/>
          </a:xfrm>
        </p:spPr>
        <p:txBody>
          <a:bodyPr/>
          <a:lstStyle/>
          <a:p>
            <a:r>
              <a:rPr lang="en-US"/>
              <a:t>Hosting – High Level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Migration</a:t>
            </a:r>
            <a:r>
              <a:rPr lang="en-US"/>
              <a:t>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Plan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B6935C-A579-2E3E-AB26-5CDFCEF13A1D}"/>
              </a:ext>
            </a:extLst>
          </p:cNvPr>
          <p:cNvGrpSpPr/>
          <p:nvPr/>
        </p:nvGrpSpPr>
        <p:grpSpPr>
          <a:xfrm>
            <a:off x="217242" y="1422461"/>
            <a:ext cx="3176716" cy="3756652"/>
            <a:chOff x="251902" y="4773494"/>
            <a:chExt cx="3176716" cy="375665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B70C37-9377-1260-FCD2-99617DA66926}"/>
                </a:ext>
              </a:extLst>
            </p:cNvPr>
            <p:cNvSpPr txBox="1"/>
            <p:nvPr/>
          </p:nvSpPr>
          <p:spPr>
            <a:xfrm>
              <a:off x="251902" y="4773494"/>
              <a:ext cx="3176716" cy="38735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txBody>
            <a:bodyPr vert="horz" wrap="square" lIns="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100" b="0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Black"/>
                  <a:ea typeface="+mn-ea"/>
                  <a:cs typeface="+mn-cs"/>
                </a:rPr>
                <a:t>AWS</a:t>
              </a:r>
              <a:endParaRPr kumimoji="0" lang="en-AU" sz="1100" b="0" i="0" u="none" strike="noStrike" kern="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27EA8E8-622C-5922-E396-CC92F0BC38A2}"/>
                </a:ext>
              </a:extLst>
            </p:cNvPr>
            <p:cNvSpPr/>
            <p:nvPr/>
          </p:nvSpPr>
          <p:spPr>
            <a:xfrm>
              <a:off x="251902" y="5159986"/>
              <a:ext cx="3176716" cy="3370160"/>
            </a:xfrm>
            <a:prstGeom prst="rect">
              <a:avLst/>
            </a:prstGeom>
            <a:solidFill>
              <a:srgbClr val="96968C">
                <a:lumMod val="20000"/>
                <a:lumOff val="8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lIns="180000" tIns="180000" rtlCol="0" anchor="t" anchorCtr="0"/>
            <a:lstStyle/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1050" b="1" kern="0" dirty="0">
                  <a:solidFill>
                    <a:srgbClr val="000000"/>
                  </a:solidFill>
                  <a:latin typeface="Graphik"/>
                </a:rPr>
                <a:t>AWS</a:t>
              </a:r>
            </a:p>
            <a:p>
              <a:pPr marL="633413" lvl="1" indent="-176213" eaLnBrk="0" hangingPunct="0">
                <a:spcBef>
                  <a:spcPts val="100"/>
                </a:spcBef>
                <a:spcAft>
                  <a:spcPts val="100"/>
                </a:spcAft>
                <a:buFontTx/>
                <a:buChar char="•"/>
                <a:defRPr/>
              </a:pPr>
              <a:r>
                <a:rPr lang="en-US" sz="1050" kern="0" dirty="0">
                  <a:solidFill>
                    <a:srgbClr val="000000"/>
                  </a:solidFill>
                  <a:latin typeface="Graphik"/>
                </a:rPr>
                <a:t>1 account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endParaRPr lang="en-US" sz="1050" kern="0" dirty="0">
                <a:solidFill>
                  <a:srgbClr val="000000"/>
                </a:solidFill>
                <a:latin typeface="Graphik"/>
              </a:endParaRP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  <a:p>
              <a:pPr marR="0" lvl="0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50B829-E291-0602-3096-E7CB00E30E59}"/>
              </a:ext>
            </a:extLst>
          </p:cNvPr>
          <p:cNvGrpSpPr/>
          <p:nvPr/>
        </p:nvGrpSpPr>
        <p:grpSpPr>
          <a:xfrm>
            <a:off x="4504354" y="1422461"/>
            <a:ext cx="3173671" cy="3757512"/>
            <a:chOff x="4845114" y="1174321"/>
            <a:chExt cx="3173671" cy="375751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78617E-8A18-EC4B-2994-E250831F6A60}"/>
                </a:ext>
              </a:extLst>
            </p:cNvPr>
            <p:cNvSpPr/>
            <p:nvPr/>
          </p:nvSpPr>
          <p:spPr>
            <a:xfrm>
              <a:off x="4845817" y="1561672"/>
              <a:ext cx="3172968" cy="3370161"/>
            </a:xfrm>
            <a:prstGeom prst="rect">
              <a:avLst/>
            </a:prstGeom>
            <a:solidFill>
              <a:srgbClr val="96968C">
                <a:lumMod val="20000"/>
                <a:lumOff val="8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lIns="180000" tIns="180000" rtlCol="0" anchor="t" anchorCtr="0"/>
            <a:lstStyle/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Graphik"/>
                </a:rPr>
                <a:t>1 AWS account in scope to be onboarded to GMCS’s landing zone 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Remote access to the virtual machines via Accenture approved VPN (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VAPoD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)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800" kern="0" dirty="0" err="1">
                  <a:solidFill>
                    <a:srgbClr val="000000"/>
                  </a:solidFill>
                  <a:latin typeface="Graphik"/>
                </a:rPr>
                <a:t>DataStories</a:t>
              </a:r>
              <a:r>
                <a:rPr lang="en-US" sz="800" kern="0" dirty="0">
                  <a:solidFill>
                    <a:srgbClr val="000000"/>
                  </a:solidFill>
                  <a:latin typeface="Graphik"/>
                </a:rPr>
                <a:t> + V&amp;A Hosting team + VA remediation team + GMCS team to secure and harden onboarded hosting environment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Graphik"/>
                </a:rPr>
                <a:t>GMCS migration team to work with </a:t>
              </a:r>
              <a:r>
                <a:rPr lang="en-US" sz="800" kern="0" dirty="0" err="1">
                  <a:solidFill>
                    <a:srgbClr val="000000"/>
                  </a:solidFill>
                  <a:latin typeface="Graphik"/>
                </a:rPr>
                <a:t>DataStories</a:t>
              </a:r>
              <a:r>
                <a:rPr lang="en-US" sz="800" kern="0" dirty="0">
                  <a:solidFill>
                    <a:srgbClr val="000000"/>
                  </a:solidFill>
                  <a:latin typeface="Graphik"/>
                </a:rPr>
                <a:t> to redesign, redeploy, and/or migrate resources to Phase 2 outside of PMI timeline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Graphik"/>
                </a:rPr>
                <a:t>Change ownership of cloud accounts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Address any vulnerabilities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CC099A9-A574-3077-31E2-4E889EE504ED}"/>
                </a:ext>
              </a:extLst>
            </p:cNvPr>
            <p:cNvSpPr txBox="1"/>
            <p:nvPr/>
          </p:nvSpPr>
          <p:spPr>
            <a:xfrm>
              <a:off x="4845114" y="1174321"/>
              <a:ext cx="3172968" cy="387350"/>
            </a:xfrm>
            <a:prstGeom prst="rect">
              <a:avLst/>
            </a:prstGeom>
            <a:solidFill>
              <a:schemeClr val="accent3"/>
            </a:solidFill>
            <a:ln w="19050">
              <a:noFill/>
            </a:ln>
          </p:spPr>
          <p:txBody>
            <a:bodyPr vert="horz" wrap="square" lIns="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100" b="0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Black"/>
                  <a:ea typeface="+mn-ea"/>
                  <a:cs typeface="+mn-cs"/>
                </a:rPr>
                <a:t>Phase 1  (GMCS Landing Zone)</a:t>
              </a:r>
            </a:p>
          </p:txBody>
        </p:sp>
      </p:grp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578B67CD-97B1-812F-494C-B4DA55C331B3}"/>
              </a:ext>
            </a:extLst>
          </p:cNvPr>
          <p:cNvSpPr/>
          <p:nvPr/>
        </p:nvSpPr>
        <p:spPr>
          <a:xfrm>
            <a:off x="7924880" y="2530287"/>
            <a:ext cx="570072" cy="783447"/>
          </a:xfrm>
          <a:prstGeom prst="chevron">
            <a:avLst/>
          </a:prstGeom>
          <a:pattFill prst="dkUpDiag">
            <a:fgClr>
              <a:srgbClr val="96968C">
                <a:lumMod val="40000"/>
                <a:lumOff val="60000"/>
              </a:srgbClr>
            </a:fgClr>
            <a:bgClr>
              <a:srgbClr val="FFFFFF"/>
            </a:bgClr>
          </a:patt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F5F8D7D-9DB2-F5FF-8781-0985C4DEBE9C}"/>
              </a:ext>
            </a:extLst>
          </p:cNvPr>
          <p:cNvGrpSpPr/>
          <p:nvPr/>
        </p:nvGrpSpPr>
        <p:grpSpPr>
          <a:xfrm>
            <a:off x="8741807" y="1422461"/>
            <a:ext cx="3173671" cy="3757511"/>
            <a:chOff x="9144664" y="1169703"/>
            <a:chExt cx="3173671" cy="37575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ADCA41-B8D8-018C-50A1-639F67F342CD}"/>
                </a:ext>
              </a:extLst>
            </p:cNvPr>
            <p:cNvSpPr/>
            <p:nvPr/>
          </p:nvSpPr>
          <p:spPr>
            <a:xfrm>
              <a:off x="9145367" y="1557053"/>
              <a:ext cx="3172968" cy="3370161"/>
            </a:xfrm>
            <a:prstGeom prst="rect">
              <a:avLst/>
            </a:prstGeom>
            <a:solidFill>
              <a:srgbClr val="96968C">
                <a:lumMod val="20000"/>
                <a:lumOff val="8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lIns="180000" tIns="180000" rtlCol="0" anchor="t" anchorCtr="0"/>
            <a:lstStyle/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 new AWS accounts to be spun up through GMCS (non prod &amp; prod)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Graphik"/>
                </a:rPr>
                <a:t>Migrate existing onboarded AWS account resources to newly spun up GMCS provided AWS account to leverage Accenture’s discount and enable GMCS monitoring, alerting, logging, and remediation services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GMCS </a:t>
              </a:r>
              <a:r>
                <a:rPr lang="en-US" sz="1000" kern="0" dirty="0">
                  <a:solidFill>
                    <a:srgbClr val="000000"/>
                  </a:solidFill>
                  <a:latin typeface="Graphik"/>
                </a:rPr>
                <a:t>migration team to work with </a:t>
              </a:r>
              <a:r>
                <a:rPr lang="en-US" sz="1000" kern="0" dirty="0" err="1">
                  <a:solidFill>
                    <a:srgbClr val="000000"/>
                  </a:solidFill>
                  <a:latin typeface="Graphik"/>
                </a:rPr>
                <a:t>DataStories</a:t>
              </a:r>
              <a:r>
                <a:rPr lang="en-US" sz="1000" kern="0" dirty="0">
                  <a:solidFill>
                    <a:srgbClr val="000000"/>
                  </a:solidFill>
                  <a:latin typeface="Graphik"/>
                </a:rPr>
                <a:t> throughout both phase 1 and phase 2, to understand, redevelop/redesign infrastructure to use exclusively Accenture approved services and applications 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Remote access to virtual machines via Accenture’s Global Protect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Bastion to be used for secure SSH and RDP access to virtual machines</a:t>
              </a:r>
            </a:p>
            <a:p>
              <a:pPr marL="176213" marR="0" lvl="0" indent="-176213" algn="l" defTabSz="914400" rtl="0" eaLnBrk="0" fontAlgn="auto" latinLnBrk="0" hangingPunct="0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lang="en-US" sz="1000" b="1" kern="0" dirty="0">
                  <a:solidFill>
                    <a:srgbClr val="000000"/>
                  </a:solidFill>
                  <a:latin typeface="Graphik"/>
                </a:rPr>
                <a:t>Align with the GMCS architecture standards</a:t>
              </a:r>
              <a:endPara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AB04AF-2E7F-5B37-ADB9-4B0F99015083}"/>
                </a:ext>
              </a:extLst>
            </p:cNvPr>
            <p:cNvSpPr txBox="1"/>
            <p:nvPr/>
          </p:nvSpPr>
          <p:spPr>
            <a:xfrm>
              <a:off x="9144664" y="1169703"/>
              <a:ext cx="3172968" cy="387350"/>
            </a:xfrm>
            <a:prstGeom prst="rect">
              <a:avLst/>
            </a:prstGeom>
            <a:solidFill>
              <a:schemeClr val="accent3"/>
            </a:solidFill>
            <a:ln w="19050">
              <a:noFill/>
            </a:ln>
          </p:spPr>
          <p:txBody>
            <a:bodyPr vert="horz" wrap="square" lIns="0" tIns="36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100" b="0" i="0" u="none" strike="noStrike" kern="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 Black"/>
                  <a:ea typeface="+mn-ea"/>
                  <a:cs typeface="+mn-cs"/>
                </a:rPr>
                <a:t>Phase 2  (GMCS Accounts)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8927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2EBC-A356-4477-A2E0-6029736304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76CF-9290-46E6-AEF6-2CE39CA734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3600" dirty="0"/>
              <a:t>Hosting Integration Plans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32B0-073F-4560-8E57-795244EFB7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5163" y="3675309"/>
            <a:ext cx="6841673" cy="2812925"/>
          </a:xfrm>
        </p:spPr>
        <p:txBody>
          <a:bodyPr/>
          <a:lstStyle/>
          <a:p>
            <a:r>
              <a:rPr lang="en-US" dirty="0"/>
              <a:t>Hosting – Existing Hosting</a:t>
            </a:r>
          </a:p>
          <a:p>
            <a:r>
              <a:rPr lang="en-US" dirty="0"/>
              <a:t>               – High Level Integration Plan</a:t>
            </a:r>
          </a:p>
          <a:p>
            <a:r>
              <a:rPr lang="en-US" dirty="0"/>
              <a:t>               – Reference Architecture </a:t>
            </a:r>
          </a:p>
          <a:p>
            <a:r>
              <a:rPr lang="en-US" dirty="0"/>
              <a:t>               </a:t>
            </a:r>
          </a:p>
          <a:p>
            <a:r>
              <a:rPr lang="en-US" dirty="0"/>
              <a:t>            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5819-DF70-49ED-B32F-D7C5F04EF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664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B29AB8-4BD8-6C7D-4A72-E645D622B2E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0F596E-F271-E6E8-D9D5-92CCAD06AD0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9</a:t>
            </a:fld>
            <a:endParaRPr lang="en-CA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D3D6906-3983-9F14-1921-47328B10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56" y="166807"/>
            <a:ext cx="11460472" cy="498598"/>
          </a:xfrm>
        </p:spPr>
        <p:txBody>
          <a:bodyPr/>
          <a:lstStyle/>
          <a:p>
            <a:r>
              <a:rPr lang="en-US" dirty="0"/>
              <a:t>Existing Hosting -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Overview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D0A99DDA-239C-9C85-3401-7DB33E978CCD}"/>
              </a:ext>
            </a:extLst>
          </p:cNvPr>
          <p:cNvSpPr/>
          <p:nvPr/>
        </p:nvSpPr>
        <p:spPr>
          <a:xfrm>
            <a:off x="3665842" y="2942318"/>
            <a:ext cx="3263946" cy="1024467"/>
          </a:xfrm>
          <a:prstGeom prst="cloud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kumimoji="1" lang="en-US" altLang="ja-JP" dirty="0"/>
              <a:t>Internet</a:t>
            </a:r>
            <a:endParaRPr kumimoji="1" lang="ja-JP" altLang="en-US" dirty="0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94D58C-5E9D-7FD9-F825-AEF9D41AEBCF}"/>
              </a:ext>
            </a:extLst>
          </p:cNvPr>
          <p:cNvSpPr/>
          <p:nvPr/>
        </p:nvSpPr>
        <p:spPr>
          <a:xfrm>
            <a:off x="889425" y="1362230"/>
            <a:ext cx="2357375" cy="159760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90DEF4-55C2-267C-21A3-2BB114329659}"/>
              </a:ext>
            </a:extLst>
          </p:cNvPr>
          <p:cNvSpPr txBox="1"/>
          <p:nvPr/>
        </p:nvSpPr>
        <p:spPr>
          <a:xfrm>
            <a:off x="1345958" y="1977275"/>
            <a:ext cx="1765265" cy="28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kumimoji="1" lang="en-US" altLang="ja-JP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https://demo.datastories.com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3C368E-5DDD-A3A7-771D-1507B70058EF}"/>
              </a:ext>
            </a:extLst>
          </p:cNvPr>
          <p:cNvSpPr/>
          <p:nvPr/>
        </p:nvSpPr>
        <p:spPr>
          <a:xfrm>
            <a:off x="7647538" y="1413932"/>
            <a:ext cx="4311943" cy="30951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>
              <a:highlight>
                <a:srgbClr val="000000"/>
              </a:highlight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846C48-A066-AD3F-94E2-DFA8683B3DDF}"/>
              </a:ext>
            </a:extLst>
          </p:cNvPr>
          <p:cNvSpPr/>
          <p:nvPr/>
        </p:nvSpPr>
        <p:spPr>
          <a:xfrm>
            <a:off x="7736231" y="1491580"/>
            <a:ext cx="4099581" cy="2939855"/>
          </a:xfrm>
          <a:prstGeom prst="roundRect">
            <a:avLst/>
          </a:prstGeom>
          <a:noFill/>
          <a:ln>
            <a:solidFill>
              <a:srgbClr val="FF7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27E9F7-30A4-3A83-1439-D67D8BFB09D6}"/>
              </a:ext>
            </a:extLst>
          </p:cNvPr>
          <p:cNvSpPr/>
          <p:nvPr/>
        </p:nvSpPr>
        <p:spPr>
          <a:xfrm>
            <a:off x="7989470" y="2058559"/>
            <a:ext cx="3592930" cy="2103866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br>
              <a:rPr kumimoji="1" lang="en-US" altLang="ja-JP" sz="1200" dirty="0"/>
            </a:br>
            <a:br>
              <a:rPr kumimoji="1" lang="en-US" altLang="ja-JP" sz="1200" dirty="0"/>
            </a:br>
            <a:br>
              <a:rPr kumimoji="1" lang="en-US" altLang="ja-JP" sz="1200" dirty="0"/>
            </a:br>
            <a:r>
              <a:rPr kumimoji="1" lang="en-US" altLang="ja-JP" sz="1200" dirty="0"/>
              <a:t>669412377329</a:t>
            </a:r>
            <a:endParaRPr kumimoji="1" lang="ja-JP" altLang="en-US" sz="1200" dirty="0" err="1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831886-B215-E650-6E6E-338D686A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921" y="1552482"/>
            <a:ext cx="445175" cy="4451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96027C1-0C69-06EA-3A65-E0F0B0B38F3C}"/>
              </a:ext>
            </a:extLst>
          </p:cNvPr>
          <p:cNvSpPr/>
          <p:nvPr/>
        </p:nvSpPr>
        <p:spPr>
          <a:xfrm>
            <a:off x="4959997" y="4696404"/>
            <a:ext cx="1843088" cy="1828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834544-5A87-548C-6A17-A197C48EB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546" y="5434030"/>
            <a:ext cx="933450" cy="5715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18AB21-E272-3F0F-02C4-4BCE9EF23F63}"/>
              </a:ext>
            </a:extLst>
          </p:cNvPr>
          <p:cNvSpPr txBox="1"/>
          <p:nvPr/>
        </p:nvSpPr>
        <p:spPr>
          <a:xfrm>
            <a:off x="5409021" y="6045696"/>
            <a:ext cx="1079020" cy="1501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800" noProof="0" dirty="0"/>
              <a:t>DS laptop</a:t>
            </a:r>
            <a:endParaRPr kumimoji="1" lang="ja-JP" altLang="en-US" sz="800" noProof="0" dirty="0"/>
          </a:p>
        </p:txBody>
      </p:sp>
      <p:pic>
        <p:nvPicPr>
          <p:cNvPr id="28" name="Graphic 27" descr="Users with solid fill">
            <a:extLst>
              <a:ext uri="{FF2B5EF4-FFF2-40B4-BE49-F238E27FC236}">
                <a16:creationId xmlns:a16="http://schemas.microsoft.com/office/drawing/2014/main" id="{A1A9F414-F65F-B76C-D0EC-D32FC86C6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3043" y="4976830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2BD2FA-4957-65B5-45A4-0A915540D126}"/>
              </a:ext>
            </a:extLst>
          </p:cNvPr>
          <p:cNvSpPr txBox="1"/>
          <p:nvPr/>
        </p:nvSpPr>
        <p:spPr>
          <a:xfrm>
            <a:off x="3333043" y="5824010"/>
            <a:ext cx="1131865" cy="2216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1100" noProof="0" dirty="0"/>
              <a:t>Website</a:t>
            </a:r>
            <a:r>
              <a:rPr kumimoji="1" lang="en-US" altLang="ja-JP" sz="1100" dirty="0"/>
              <a:t> access</a:t>
            </a:r>
            <a:endParaRPr kumimoji="1" lang="ja-JP" altLang="en-US" sz="110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879319B-D3DB-9CD1-E630-CC98DE797C1B}"/>
              </a:ext>
            </a:extLst>
          </p:cNvPr>
          <p:cNvSpPr/>
          <p:nvPr/>
        </p:nvSpPr>
        <p:spPr>
          <a:xfrm>
            <a:off x="5667375" y="3238501"/>
            <a:ext cx="2322095" cy="2050416"/>
          </a:xfrm>
          <a:custGeom>
            <a:avLst/>
            <a:gdLst>
              <a:gd name="connsiteX0" fmla="*/ 0 w 3098800"/>
              <a:gd name="connsiteY0" fmla="*/ 2904066 h 2904066"/>
              <a:gd name="connsiteX1" fmla="*/ 694266 w 3098800"/>
              <a:gd name="connsiteY1" fmla="*/ 381000 h 2904066"/>
              <a:gd name="connsiteX2" fmla="*/ 3098800 w 3098800"/>
              <a:gd name="connsiteY2" fmla="*/ 0 h 290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8800" h="2904066">
                <a:moveTo>
                  <a:pt x="0" y="2904066"/>
                </a:moveTo>
                <a:cubicBezTo>
                  <a:pt x="88899" y="1884538"/>
                  <a:pt x="177799" y="865011"/>
                  <a:pt x="694266" y="381000"/>
                </a:cubicBezTo>
                <a:cubicBezTo>
                  <a:pt x="1210733" y="-103011"/>
                  <a:pt x="2664178" y="63500"/>
                  <a:pt x="3098800" y="0"/>
                </a:cubicBezTo>
              </a:path>
            </a:pathLst>
          </a:custGeom>
          <a:ln w="12700">
            <a:prstDash val="lg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5506902-F106-2539-D374-4F94F8F9CA1B}"/>
              </a:ext>
            </a:extLst>
          </p:cNvPr>
          <p:cNvSpPr/>
          <p:nvPr/>
        </p:nvSpPr>
        <p:spPr>
          <a:xfrm flipH="1">
            <a:off x="3256622" y="2363356"/>
            <a:ext cx="835769" cy="2806617"/>
          </a:xfrm>
          <a:custGeom>
            <a:avLst/>
            <a:gdLst>
              <a:gd name="connsiteX0" fmla="*/ 0 w 3098800"/>
              <a:gd name="connsiteY0" fmla="*/ 2904066 h 2904066"/>
              <a:gd name="connsiteX1" fmla="*/ 694266 w 3098800"/>
              <a:gd name="connsiteY1" fmla="*/ 381000 h 2904066"/>
              <a:gd name="connsiteX2" fmla="*/ 3098800 w 3098800"/>
              <a:gd name="connsiteY2" fmla="*/ 0 h 290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8800" h="2904066">
                <a:moveTo>
                  <a:pt x="0" y="2904066"/>
                </a:moveTo>
                <a:cubicBezTo>
                  <a:pt x="88899" y="1884538"/>
                  <a:pt x="177799" y="865011"/>
                  <a:pt x="694266" y="381000"/>
                </a:cubicBezTo>
                <a:cubicBezTo>
                  <a:pt x="1210733" y="-103011"/>
                  <a:pt x="2664178" y="63500"/>
                  <a:pt x="3098800" y="0"/>
                </a:cubicBezTo>
              </a:path>
            </a:pathLst>
          </a:custGeom>
          <a:ln w="12700">
            <a:prstDash val="lg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4BBD4D1-3706-4E7E-8B8D-95019830EA56}"/>
              </a:ext>
            </a:extLst>
          </p:cNvPr>
          <p:cNvSpPr/>
          <p:nvPr/>
        </p:nvSpPr>
        <p:spPr>
          <a:xfrm>
            <a:off x="8090107" y="2205036"/>
            <a:ext cx="1591451" cy="78219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09FDBCA-B4B6-07BD-D029-FBB0ED4E6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922" y="2257904"/>
            <a:ext cx="545678" cy="4939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37EBD31-23F6-4769-5EEC-434CB67A8971}"/>
              </a:ext>
            </a:extLst>
          </p:cNvPr>
          <p:cNvSpPr txBox="1"/>
          <p:nvPr/>
        </p:nvSpPr>
        <p:spPr>
          <a:xfrm>
            <a:off x="8212548" y="2728210"/>
            <a:ext cx="1368373" cy="2141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800" noProof="0" dirty="0"/>
              <a:t>https://datastories.com/</a:t>
            </a:r>
            <a:endParaRPr kumimoji="1" lang="ja-JP" altLang="en-US" sz="800" noProof="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32F9FBE-0F87-A90C-77FF-55C009D000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689" y="1429468"/>
            <a:ext cx="416760" cy="39175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654693D-66F3-4DE2-1CB7-A69F4EF7B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3995" y="1454693"/>
            <a:ext cx="545678" cy="49391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C1A947-D04C-52A6-4B13-386D6FC3A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6569" y="2174238"/>
            <a:ext cx="545678" cy="49391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8F55C83-3A5B-88F1-85AB-E6A63A6C17C5}"/>
              </a:ext>
            </a:extLst>
          </p:cNvPr>
          <p:cNvSpPr txBox="1"/>
          <p:nvPr/>
        </p:nvSpPr>
        <p:spPr>
          <a:xfrm>
            <a:off x="1367688" y="2671967"/>
            <a:ext cx="1765265" cy="2878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kumimoji="1" lang="en-US" altLang="ja-JP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https://discover.datastories.com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EC661A1-F494-4090-2DD8-583506DD4027}"/>
              </a:ext>
            </a:extLst>
          </p:cNvPr>
          <p:cNvSpPr/>
          <p:nvPr/>
        </p:nvSpPr>
        <p:spPr>
          <a:xfrm>
            <a:off x="4181084" y="2571750"/>
            <a:ext cx="3907795" cy="2602443"/>
          </a:xfrm>
          <a:custGeom>
            <a:avLst/>
            <a:gdLst>
              <a:gd name="connsiteX0" fmla="*/ 0 w 3098800"/>
              <a:gd name="connsiteY0" fmla="*/ 2904066 h 2904066"/>
              <a:gd name="connsiteX1" fmla="*/ 694266 w 3098800"/>
              <a:gd name="connsiteY1" fmla="*/ 381000 h 2904066"/>
              <a:gd name="connsiteX2" fmla="*/ 3098800 w 3098800"/>
              <a:gd name="connsiteY2" fmla="*/ 0 h 290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8800" h="2904066">
                <a:moveTo>
                  <a:pt x="0" y="2904066"/>
                </a:moveTo>
                <a:cubicBezTo>
                  <a:pt x="88899" y="1884538"/>
                  <a:pt x="177799" y="865011"/>
                  <a:pt x="694266" y="381000"/>
                </a:cubicBezTo>
                <a:cubicBezTo>
                  <a:pt x="1210733" y="-103011"/>
                  <a:pt x="2664178" y="63500"/>
                  <a:pt x="3098800" y="0"/>
                </a:cubicBezTo>
              </a:path>
            </a:pathLst>
          </a:custGeom>
          <a:ln w="12700">
            <a:prstDash val="lg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4F1C86-870D-7EDC-4290-28D7AC0752CD}"/>
              </a:ext>
            </a:extLst>
          </p:cNvPr>
          <p:cNvSpPr/>
          <p:nvPr/>
        </p:nvSpPr>
        <p:spPr>
          <a:xfrm>
            <a:off x="4959996" y="4696404"/>
            <a:ext cx="1843088" cy="217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kumimoji="1" lang="en-US" altLang="ja-JP" sz="1000" dirty="0"/>
              <a:t>Remote Access - DS Users</a:t>
            </a:r>
            <a:endParaRPr kumimoji="1" lang="ja-JP" altLang="en-US" sz="1000" dirty="0" err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2233E3-16A7-2FFD-ACB5-6B314F8A75DE}"/>
              </a:ext>
            </a:extLst>
          </p:cNvPr>
          <p:cNvSpPr txBox="1"/>
          <p:nvPr/>
        </p:nvSpPr>
        <p:spPr>
          <a:xfrm rot="17132140">
            <a:off x="5483786" y="3966698"/>
            <a:ext cx="1079020" cy="1501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800" noProof="0" dirty="0"/>
              <a:t>IP Filtering</a:t>
            </a:r>
            <a:endParaRPr kumimoji="1" lang="ja-JP" altLang="en-US" sz="800" noProof="0" dirty="0"/>
          </a:p>
        </p:txBody>
      </p:sp>
    </p:spTree>
    <p:extLst>
      <p:ext uri="{BB962C8B-B14F-4D97-AF65-F5344CB8AC3E}">
        <p14:creationId xmlns:p14="http://schemas.microsoft.com/office/powerpoint/2010/main" val="746968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0CA250-66AF-4C0A-9B32-7A00AFE84E4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717996-E6D9-4BC3-BACE-B3065E69E8E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10</a:t>
            </a:fld>
            <a:endParaRPr lang="en-CA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625369A-FAEC-4226-A8D4-B1CE232B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05" y="245992"/>
            <a:ext cx="10915191" cy="997196"/>
          </a:xfrm>
        </p:spPr>
        <p:txBody>
          <a:bodyPr/>
          <a:lstStyle/>
          <a:p>
            <a:r>
              <a:rPr lang="en-US" dirty="0"/>
              <a:t>Hosting – High Level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Integration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Plan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5C322-3C66-4F06-88C0-1E6B8E4F3F1A}"/>
              </a:ext>
            </a:extLst>
          </p:cNvPr>
          <p:cNvSpPr/>
          <p:nvPr/>
        </p:nvSpPr>
        <p:spPr>
          <a:xfrm>
            <a:off x="891405" y="1412446"/>
            <a:ext cx="10824345" cy="4264454"/>
          </a:xfrm>
          <a:prstGeom prst="rect">
            <a:avLst/>
          </a:prstGeom>
          <a:solidFill>
            <a:srgbClr val="96968C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lIns="180000" tIns="180000" rtlCol="0" anchor="t" anchorCtr="0"/>
          <a:lstStyle/>
          <a:p>
            <a:pPr marL="174625" indent="-174625" eaLnBrk="0" hangingPunct="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ja-JP" sz="1400" dirty="0" err="1"/>
              <a:t>DataStories</a:t>
            </a:r>
            <a:r>
              <a:rPr lang="en-US" altLang="ja-JP" sz="1400" dirty="0"/>
              <a:t> has one AWS account. This account will be onboarded on Accenture GMCS platform.</a:t>
            </a:r>
          </a:p>
          <a:p>
            <a:pPr marL="631825" lvl="1" indent="-174625" eaLnBrk="0" hangingPunct="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/>
            </a:pPr>
            <a:r>
              <a:rPr lang="en-US" sz="1400" dirty="0"/>
              <a:t>556008695729</a:t>
            </a:r>
            <a:br>
              <a:rPr lang="en-US" sz="1400" dirty="0"/>
            </a:br>
            <a:endParaRPr lang="en-US" sz="1400" dirty="0"/>
          </a:p>
          <a:p>
            <a:pPr marL="174625" marR="0" lvl="0" indent="-174625" eaLnBrk="0" fontAlgn="auto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400" dirty="0"/>
              <a:t>Current website (GTM - https://datastories.com/) is hosted on AWS</a:t>
            </a:r>
          </a:p>
          <a:p>
            <a:pPr marL="174625" indent="-174625" eaLnBrk="0" hangingPunct="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ja-JP" sz="1400" dirty="0"/>
              <a:t>Additional websites (</a:t>
            </a:r>
            <a:r>
              <a:rPr lang="en-US" altLang="ja-JP" sz="1400" dirty="0">
                <a:hlinkClick r:id="rId2"/>
              </a:rPr>
              <a:t>https://demo.datastories.com</a:t>
            </a:r>
            <a:r>
              <a:rPr lang="en-US" altLang="ja-JP" sz="1400" dirty="0"/>
              <a:t> and </a:t>
            </a:r>
            <a:r>
              <a:rPr lang="en-US" altLang="ja-JP" sz="1400" dirty="0">
                <a:hlinkClick r:id="rId3"/>
              </a:rPr>
              <a:t>https://discover.datastories.com</a:t>
            </a:r>
            <a:r>
              <a:rPr lang="en-US" altLang="ja-JP" sz="1400" dirty="0"/>
              <a:t> ) are hosted on a third-party platform “</a:t>
            </a:r>
            <a:r>
              <a:rPr lang="en-US" altLang="ja-JP" sz="1400" dirty="0" err="1"/>
              <a:t>Unbounce</a:t>
            </a:r>
            <a:r>
              <a:rPr lang="en-US" altLang="ja-JP" sz="1400" dirty="0"/>
              <a:t>”. These will not be retained.</a:t>
            </a:r>
          </a:p>
          <a:p>
            <a:pPr marL="174625" marR="0" lvl="0" indent="-174625" eaLnBrk="0" fontAlgn="auto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1400" dirty="0"/>
          </a:p>
          <a:p>
            <a:pPr marL="174625" marR="0" lvl="0" indent="-174625" eaLnBrk="0" fontAlgn="auto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ja-JP" sz="1400" dirty="0"/>
              <a:t>The PMI team is currently in discussion with the deal team regarding </a:t>
            </a:r>
            <a:r>
              <a:rPr lang="en-US" altLang="ja-JP" sz="1400" dirty="0" err="1"/>
              <a:t>WiredUP</a:t>
            </a:r>
            <a:r>
              <a:rPr lang="en-US" altLang="ja-JP" sz="1400" dirty="0"/>
              <a:t>. A separate blueprint will be created for this.</a:t>
            </a:r>
          </a:p>
          <a:p>
            <a:pPr marL="174625" marR="0" lvl="0" indent="-174625" eaLnBrk="0" fontAlgn="auto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400" dirty="0"/>
              <a:t>The accounts will be segregated based on production and non-production environments when moving to GMCS core, or as finalized between the GMCS and DS team.</a:t>
            </a:r>
          </a:p>
        </p:txBody>
      </p:sp>
    </p:spTree>
    <p:extLst>
      <p:ext uri="{BB962C8B-B14F-4D97-AF65-F5344CB8AC3E}">
        <p14:creationId xmlns:p14="http://schemas.microsoft.com/office/powerpoint/2010/main" val="173709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64CD41-B3A0-D1AF-780E-398EE8C4AB78}"/>
              </a:ext>
            </a:extLst>
          </p:cNvPr>
          <p:cNvSpPr/>
          <p:nvPr/>
        </p:nvSpPr>
        <p:spPr>
          <a:xfrm>
            <a:off x="0" y="0"/>
            <a:ext cx="3530278" cy="6373368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Arial Black"/>
              <a:cs typeface="Arial Black" panose="020B0604020202020204" pitchFamily="34" charset="0"/>
              <a:sym typeface="Arial Black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A3D14-9112-463A-AEC1-A4426DA211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150" y="3429405"/>
            <a:ext cx="3024862" cy="300537"/>
          </a:xfrm>
        </p:spPr>
        <p:txBody>
          <a:bodyPr/>
          <a:lstStyle/>
          <a:p>
            <a:r>
              <a:rPr lang="en-GB" b="0" dirty="0">
                <a:solidFill>
                  <a:schemeClr val="bg1"/>
                </a:solidFill>
              </a:rPr>
              <a:t>Target Reference Architecture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BC3AB-31C0-4D7F-BE78-83A027EB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50" y="2329560"/>
            <a:ext cx="3024863" cy="800100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Reference Architecture</a:t>
            </a:r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C7904058-F170-27A2-BDE7-77105A50C1F3}"/>
              </a:ext>
            </a:extLst>
          </p:cNvPr>
          <p:cNvSpPr/>
          <p:nvPr/>
        </p:nvSpPr>
        <p:spPr>
          <a:xfrm>
            <a:off x="4066016" y="2860573"/>
            <a:ext cx="3043658" cy="985204"/>
          </a:xfrm>
          <a:prstGeom prst="cloud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</a:t>
            </a:r>
            <a:endParaRPr kumimoji="1" lang="ja-JP" altLang="en-US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F13F19-BBA3-C600-EEE1-F4DE18682E5F}"/>
              </a:ext>
            </a:extLst>
          </p:cNvPr>
          <p:cNvSpPr/>
          <p:nvPr/>
        </p:nvSpPr>
        <p:spPr>
          <a:xfrm>
            <a:off x="8047713" y="1212670"/>
            <a:ext cx="4020924" cy="3096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DDDF8A-FE33-88DB-D2F2-5173D42027B5}"/>
              </a:ext>
            </a:extLst>
          </p:cNvPr>
          <p:cNvSpPr/>
          <p:nvPr/>
        </p:nvSpPr>
        <p:spPr>
          <a:xfrm>
            <a:off x="8136405" y="1571625"/>
            <a:ext cx="3822895" cy="2665392"/>
          </a:xfrm>
          <a:prstGeom prst="roundRect">
            <a:avLst/>
          </a:prstGeom>
          <a:noFill/>
          <a:ln>
            <a:solidFill>
              <a:srgbClr val="FF7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743786-F833-B38B-0983-4732083031B2}"/>
              </a:ext>
            </a:extLst>
          </p:cNvPr>
          <p:cNvSpPr/>
          <p:nvPr/>
        </p:nvSpPr>
        <p:spPr>
          <a:xfrm>
            <a:off x="8389644" y="1976813"/>
            <a:ext cx="3350438" cy="2023234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br>
              <a:rPr kumimoji="1" lang="en-US" altLang="ja-JP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kumimoji="1" lang="en-US" altLang="ja-JP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kumimoji="1" lang="en-US" altLang="ja-JP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ja-JP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669412377329</a:t>
            </a:r>
            <a:endParaRPr kumimoji="1" lang="ja-JP" altLang="en-US" sz="12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0B03998-800F-B5CB-F923-4BD6BF48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325" y="1623480"/>
            <a:ext cx="350776" cy="35077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6ACEDD2C-453C-1825-0393-06E0BD57E762}"/>
              </a:ext>
            </a:extLst>
          </p:cNvPr>
          <p:cNvSpPr/>
          <p:nvPr/>
        </p:nvSpPr>
        <p:spPr>
          <a:xfrm>
            <a:off x="5360171" y="4614658"/>
            <a:ext cx="1718695" cy="175871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C7004D5-253C-9A45-F1AA-25F1A5FEC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720" y="5352284"/>
            <a:ext cx="897675" cy="54959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BB17FB6-334F-97CE-775F-76973D768B26}"/>
              </a:ext>
            </a:extLst>
          </p:cNvPr>
          <p:cNvSpPr txBox="1"/>
          <p:nvPr/>
        </p:nvSpPr>
        <p:spPr>
          <a:xfrm>
            <a:off x="5809195" y="5963951"/>
            <a:ext cx="1006195" cy="1443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laptop</a:t>
            </a:r>
            <a:endParaRPr kumimoji="1" lang="ja-JP" altLang="en-US" sz="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" name="Graphic 48" descr="Users with solid fill">
            <a:extLst>
              <a:ext uri="{FF2B5EF4-FFF2-40B4-BE49-F238E27FC236}">
                <a16:creationId xmlns:a16="http://schemas.microsoft.com/office/drawing/2014/main" id="{A3EBEC2F-717C-D92E-A68A-56ADDE403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3217" y="4895084"/>
            <a:ext cx="879355" cy="87935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C76AC96-E134-2C2F-1C3A-6EA1AEB691F4}"/>
              </a:ext>
            </a:extLst>
          </p:cNvPr>
          <p:cNvSpPr txBox="1"/>
          <p:nvPr/>
        </p:nvSpPr>
        <p:spPr>
          <a:xfrm>
            <a:off x="3733218" y="5742264"/>
            <a:ext cx="1055474" cy="2131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GTM app access</a:t>
            </a:r>
            <a:endParaRPr kumimoji="1" lang="ja-JP" altLang="en-US" sz="11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7F4DB2D-7AE8-C828-6D94-57CF9638AEF2}"/>
              </a:ext>
            </a:extLst>
          </p:cNvPr>
          <p:cNvSpPr/>
          <p:nvPr/>
        </p:nvSpPr>
        <p:spPr>
          <a:xfrm>
            <a:off x="6067550" y="3129660"/>
            <a:ext cx="2322094" cy="1998927"/>
          </a:xfrm>
          <a:custGeom>
            <a:avLst/>
            <a:gdLst>
              <a:gd name="connsiteX0" fmla="*/ 0 w 3098800"/>
              <a:gd name="connsiteY0" fmla="*/ 2904066 h 2904066"/>
              <a:gd name="connsiteX1" fmla="*/ 694266 w 3098800"/>
              <a:gd name="connsiteY1" fmla="*/ 381000 h 2904066"/>
              <a:gd name="connsiteX2" fmla="*/ 3098800 w 3098800"/>
              <a:gd name="connsiteY2" fmla="*/ 0 h 290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8800" h="2904066">
                <a:moveTo>
                  <a:pt x="0" y="2904066"/>
                </a:moveTo>
                <a:cubicBezTo>
                  <a:pt x="88899" y="1884538"/>
                  <a:pt x="177799" y="865011"/>
                  <a:pt x="694266" y="381000"/>
                </a:cubicBezTo>
                <a:cubicBezTo>
                  <a:pt x="1210733" y="-103011"/>
                  <a:pt x="2664178" y="63500"/>
                  <a:pt x="3098800" y="0"/>
                </a:cubicBezTo>
              </a:path>
            </a:pathLst>
          </a:custGeom>
          <a:ln w="12700">
            <a:prstDash val="lg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27A6D31-2C21-D84E-CE5F-37CF37E734B1}"/>
              </a:ext>
            </a:extLst>
          </p:cNvPr>
          <p:cNvSpPr/>
          <p:nvPr/>
        </p:nvSpPr>
        <p:spPr>
          <a:xfrm>
            <a:off x="8490282" y="2123290"/>
            <a:ext cx="1484042" cy="75221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ja-JP" altLang="en-US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0BDCEF5-A7C1-F274-19ED-CC4881B66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3096" y="2176158"/>
            <a:ext cx="524764" cy="47498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5F497631-8A8C-DF51-4F38-9652C45263DE}"/>
              </a:ext>
            </a:extLst>
          </p:cNvPr>
          <p:cNvSpPr txBox="1"/>
          <p:nvPr/>
        </p:nvSpPr>
        <p:spPr>
          <a:xfrm>
            <a:off x="8612723" y="2646464"/>
            <a:ext cx="1276020" cy="20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8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https://datastories.com/</a:t>
            </a:r>
            <a:endParaRPr kumimoji="1" lang="ja-JP" altLang="en-US" sz="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F411954-78F2-108B-3660-7B6D6930F5DF}"/>
              </a:ext>
            </a:extLst>
          </p:cNvPr>
          <p:cNvSpPr/>
          <p:nvPr/>
        </p:nvSpPr>
        <p:spPr>
          <a:xfrm>
            <a:off x="4581258" y="2457450"/>
            <a:ext cx="3922128" cy="2535257"/>
          </a:xfrm>
          <a:custGeom>
            <a:avLst/>
            <a:gdLst>
              <a:gd name="connsiteX0" fmla="*/ 0 w 3098800"/>
              <a:gd name="connsiteY0" fmla="*/ 2904066 h 2904066"/>
              <a:gd name="connsiteX1" fmla="*/ 694266 w 3098800"/>
              <a:gd name="connsiteY1" fmla="*/ 381000 h 2904066"/>
              <a:gd name="connsiteX2" fmla="*/ 3098800 w 3098800"/>
              <a:gd name="connsiteY2" fmla="*/ 0 h 290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8800" h="2904066">
                <a:moveTo>
                  <a:pt x="0" y="2904066"/>
                </a:moveTo>
                <a:cubicBezTo>
                  <a:pt x="88899" y="1884538"/>
                  <a:pt x="177799" y="865011"/>
                  <a:pt x="694266" y="381000"/>
                </a:cubicBezTo>
                <a:cubicBezTo>
                  <a:pt x="1210733" y="-103011"/>
                  <a:pt x="2664178" y="63500"/>
                  <a:pt x="3098800" y="0"/>
                </a:cubicBezTo>
              </a:path>
            </a:pathLst>
          </a:custGeom>
          <a:ln w="12700">
            <a:prstDash val="lg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88D50D-EEDA-A90F-B5E8-A415F1CFC34B}"/>
              </a:ext>
            </a:extLst>
          </p:cNvPr>
          <p:cNvSpPr/>
          <p:nvPr/>
        </p:nvSpPr>
        <p:spPr>
          <a:xfrm>
            <a:off x="5360170" y="4614658"/>
            <a:ext cx="1718695" cy="2095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Access - DS Users</a:t>
            </a:r>
            <a:endParaRPr kumimoji="1" lang="ja-JP" altLang="en-US" sz="1000" dirty="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F4CCDEA-29A2-7C62-97B2-236B787557A1}"/>
              </a:ext>
            </a:extLst>
          </p:cNvPr>
          <p:cNvGrpSpPr/>
          <p:nvPr/>
        </p:nvGrpSpPr>
        <p:grpSpPr>
          <a:xfrm>
            <a:off x="6128418" y="3935766"/>
            <a:ext cx="686972" cy="206193"/>
            <a:chOff x="8611848" y="2373484"/>
            <a:chExt cx="1087954" cy="47506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4DA7391D-E4C1-C12D-5F59-2E4787AB1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026184" y="2373484"/>
              <a:ext cx="356126" cy="35612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B22586F-A1CC-118D-C38F-E59BB4AE14BF}"/>
                </a:ext>
              </a:extLst>
            </p:cNvPr>
            <p:cNvSpPr txBox="1"/>
            <p:nvPr/>
          </p:nvSpPr>
          <p:spPr>
            <a:xfrm>
              <a:off x="8611848" y="2729610"/>
              <a:ext cx="1087954" cy="1189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kumimoji="1" lang="en-US" altLang="ja-JP" sz="80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Accenture  standard  </a:t>
              </a:r>
              <a:r>
                <a:rPr kumimoji="1" lang="en-US" altLang="ja-JP" sz="800" noProof="0" dirty="0">
                  <a:solidFill>
                    <a:schemeClr val="accent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VPN</a:t>
              </a:r>
              <a:endParaRPr kumimoji="1" lang="ja-JP" altLang="en-US" sz="800" noProof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C3F459C-721D-FA64-F0CC-C6FE5C751C54}"/>
              </a:ext>
            </a:extLst>
          </p:cNvPr>
          <p:cNvSpPr txBox="1"/>
          <p:nvPr/>
        </p:nvSpPr>
        <p:spPr>
          <a:xfrm>
            <a:off x="8101629" y="1211478"/>
            <a:ext cx="1826984" cy="33456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1100" noProof="0" dirty="0"/>
              <a:t>Accenture GMCS LZ</a:t>
            </a:r>
            <a:endParaRPr kumimoji="1" lang="ja-JP" altLang="en-US" sz="11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08A94-84CF-C96D-86CB-43051456E80F}"/>
              </a:ext>
            </a:extLst>
          </p:cNvPr>
          <p:cNvSpPr txBox="1"/>
          <p:nvPr/>
        </p:nvSpPr>
        <p:spPr>
          <a:xfrm>
            <a:off x="7031836" y="2345996"/>
            <a:ext cx="672006" cy="1534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sz="800" noProof="0" dirty="0"/>
              <a:t>443</a:t>
            </a:r>
            <a:endParaRPr kumimoji="1" lang="ja-JP" altLang="en-US" sz="800" noProof="0" dirty="0"/>
          </a:p>
        </p:txBody>
      </p:sp>
    </p:spTree>
    <p:extLst>
      <p:ext uri="{BB962C8B-B14F-4D97-AF65-F5344CB8AC3E}">
        <p14:creationId xmlns:p14="http://schemas.microsoft.com/office/powerpoint/2010/main" val="278914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2EBC-A356-4477-A2E0-6029736304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76CF-9290-46E6-AEF6-2CE39CA734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3600" dirty="0"/>
              <a:t>Budget &amp; Costs Estimates </a:t>
            </a:r>
          </a:p>
          <a:p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32B0-073F-4560-8E57-795244EFB7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5163" y="3675309"/>
            <a:ext cx="6841673" cy="1544391"/>
          </a:xfrm>
        </p:spPr>
        <p:txBody>
          <a:bodyPr/>
          <a:lstStyle/>
          <a:p>
            <a:r>
              <a:rPr lang="en-US" dirty="0"/>
              <a:t>Hosting Integration Budget Details </a:t>
            </a:r>
          </a:p>
          <a:p>
            <a:r>
              <a:rPr lang="en-US" dirty="0"/>
              <a:t>                     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5819-DF70-49ED-B32F-D7C5F04EF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27458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E1684E-B974-4190-A79B-3767844FF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290A87-ACD9-4BD2-8F8A-D1E9BCDCD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2E0F444-244F-42A5-8F82-C54ECBF431FB}"/>
              </a:ext>
            </a:extLst>
          </p:cNvPr>
          <p:cNvSpPr txBox="1">
            <a:spLocks/>
          </p:cNvSpPr>
          <p:nvPr/>
        </p:nvSpPr>
        <p:spPr>
          <a:xfrm>
            <a:off x="349201" y="346108"/>
            <a:ext cx="9299624" cy="49859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Hosting IT Integration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Budget Details  </a:t>
            </a:r>
            <a:br>
              <a:rPr lang="en-US" sz="3200" dirty="0"/>
            </a:b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AE7B1-D504-4AD4-A1D4-4FBE5E6CB856}"/>
              </a:ext>
            </a:extLst>
          </p:cNvPr>
          <p:cNvSpPr txBox="1"/>
          <p:nvPr/>
        </p:nvSpPr>
        <p:spPr>
          <a:xfrm>
            <a:off x="773640" y="4816809"/>
            <a:ext cx="10016280" cy="1377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u="sng" dirty="0"/>
              <a:t>Note : 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100" dirty="0"/>
              <a:t>All the costs are in USD. 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100" dirty="0"/>
              <a:t>The Estimate is based on the number of servers, and configuration shared in the Hosting Inventory  by DS IT team.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100" kern="0" dirty="0">
                <a:solidFill>
                  <a:srgbClr val="000000"/>
                </a:solidFill>
                <a:latin typeface="Graphik"/>
              </a:rPr>
              <a:t>Hosting blueprint excludes application license costs and application installation efforts. 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100" kern="0" dirty="0">
                <a:solidFill>
                  <a:srgbClr val="000000"/>
                </a:solidFill>
                <a:latin typeface="Graphik"/>
              </a:rPr>
              <a:t>The DD costs are for project </a:t>
            </a:r>
            <a:r>
              <a:rPr lang="en-US" sz="1100" kern="0" dirty="0" err="1">
                <a:solidFill>
                  <a:srgbClr val="000000"/>
                </a:solidFill>
                <a:latin typeface="Graphik"/>
              </a:rPr>
              <a:t>Praire</a:t>
            </a:r>
            <a:r>
              <a:rPr lang="en-US" sz="1100" kern="0" dirty="0">
                <a:solidFill>
                  <a:srgbClr val="000000"/>
                </a:solidFill>
                <a:latin typeface="Graphik"/>
              </a:rPr>
              <a:t> as we do not have separate set of costs for each sub entity available.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sz="1100" kern="0" dirty="0">
                <a:solidFill>
                  <a:srgbClr val="000000"/>
                </a:solidFill>
                <a:latin typeface="Graphik"/>
              </a:rPr>
              <a:t>Current PMI costs are only for </a:t>
            </a:r>
            <a:r>
              <a:rPr lang="en-US" sz="1100" kern="0" dirty="0" err="1">
                <a:solidFill>
                  <a:srgbClr val="000000"/>
                </a:solidFill>
                <a:latin typeface="Graphik"/>
              </a:rPr>
              <a:t>Datastories</a:t>
            </a:r>
            <a:r>
              <a:rPr lang="en-US" sz="1100" kern="0" dirty="0">
                <a:solidFill>
                  <a:srgbClr val="000000"/>
                </a:solidFill>
                <a:latin typeface="Graphik"/>
              </a:rPr>
              <a:t>. PiP and </a:t>
            </a:r>
            <a:r>
              <a:rPr lang="en-US" sz="1100" kern="0" dirty="0" err="1">
                <a:solidFill>
                  <a:srgbClr val="000000"/>
                </a:solidFill>
                <a:latin typeface="Graphik"/>
              </a:rPr>
              <a:t>WiredUP</a:t>
            </a:r>
            <a:r>
              <a:rPr lang="en-US" sz="1100" kern="0" dirty="0">
                <a:solidFill>
                  <a:srgbClr val="000000"/>
                </a:solidFill>
                <a:latin typeface="Graphik"/>
              </a:rPr>
              <a:t> related costs/resources are not included in this blueprint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C318CC-21E2-758A-B280-3095A862E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387137"/>
              </p:ext>
            </p:extLst>
          </p:nvPr>
        </p:nvGraphicFramePr>
        <p:xfrm>
          <a:off x="773640" y="696147"/>
          <a:ext cx="10150476" cy="1781407"/>
        </p:xfrm>
        <a:graphic>
          <a:graphicData uri="http://schemas.openxmlformats.org/drawingml/2006/table">
            <a:tbl>
              <a:tblPr/>
              <a:tblGrid>
                <a:gridCol w="3504497">
                  <a:extLst>
                    <a:ext uri="{9D8B030D-6E8A-4147-A177-3AD203B41FA5}">
                      <a16:colId xmlns:a16="http://schemas.microsoft.com/office/drawing/2014/main" val="2269537103"/>
                    </a:ext>
                  </a:extLst>
                </a:gridCol>
                <a:gridCol w="1661495">
                  <a:extLst>
                    <a:ext uri="{9D8B030D-6E8A-4147-A177-3AD203B41FA5}">
                      <a16:colId xmlns:a16="http://schemas.microsoft.com/office/drawing/2014/main" val="67407352"/>
                    </a:ext>
                  </a:extLst>
                </a:gridCol>
                <a:gridCol w="1354328">
                  <a:extLst>
                    <a:ext uri="{9D8B030D-6E8A-4147-A177-3AD203B41FA5}">
                      <a16:colId xmlns:a16="http://schemas.microsoft.com/office/drawing/2014/main" val="1180649017"/>
                    </a:ext>
                  </a:extLst>
                </a:gridCol>
                <a:gridCol w="3630156">
                  <a:extLst>
                    <a:ext uri="{9D8B030D-6E8A-4147-A177-3AD203B41FA5}">
                      <a16:colId xmlns:a16="http://schemas.microsoft.com/office/drawing/2014/main" val="2527644567"/>
                    </a:ext>
                  </a:extLst>
                </a:gridCol>
              </a:tblGrid>
              <a:tr h="3017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Report 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443915"/>
                  </a:ext>
                </a:extLst>
              </a:tr>
              <a:tr h="301768">
                <a:tc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DD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PMI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791583"/>
                  </a:ext>
                </a:extLst>
              </a:tr>
              <a:tr h="3115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Total Annual Run Costs (ARC)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游ゴシック" panose="020B0400000000000000" pitchFamily="50" charset="-128"/>
                        </a:rPr>
                        <a:t>$124k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游ゴシック" panose="020B0400000000000000" pitchFamily="50" charset="-128"/>
                        </a:rPr>
                        <a:t>$29k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921559"/>
                  </a:ext>
                </a:extLst>
              </a:tr>
              <a:tr h="3115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Total Capital Expenditure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游ゴシック" panose="020B0400000000000000" pitchFamily="50" charset="-128"/>
                        </a:rPr>
                        <a:t>$10k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游ゴシック" panose="020B0400000000000000" pitchFamily="50" charset="-128"/>
                        </a:rPr>
                        <a:t>$0k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863278"/>
                  </a:ext>
                </a:extLst>
              </a:tr>
              <a:tr h="3115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Migration &amp; Integration Costs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游ゴシック" panose="020B0400000000000000" pitchFamily="50" charset="-128"/>
                        </a:rPr>
                        <a:t>$77k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游ゴシック" panose="020B0400000000000000" pitchFamily="50" charset="-128"/>
                        </a:rPr>
                        <a:t>$22k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07107"/>
                  </a:ext>
                </a:extLst>
              </a:tr>
              <a:tr h="2433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745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9F0DAE-FBB6-2FB7-A534-C9B59139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25818"/>
              </p:ext>
            </p:extLst>
          </p:nvPr>
        </p:nvGraphicFramePr>
        <p:xfrm>
          <a:off x="773640" y="2194298"/>
          <a:ext cx="10150476" cy="1058112"/>
        </p:xfrm>
        <a:graphic>
          <a:graphicData uri="http://schemas.openxmlformats.org/drawingml/2006/table">
            <a:tbl>
              <a:tblPr/>
              <a:tblGrid>
                <a:gridCol w="3504497">
                  <a:extLst>
                    <a:ext uri="{9D8B030D-6E8A-4147-A177-3AD203B41FA5}">
                      <a16:colId xmlns:a16="http://schemas.microsoft.com/office/drawing/2014/main" val="664902947"/>
                    </a:ext>
                  </a:extLst>
                </a:gridCol>
                <a:gridCol w="1661495">
                  <a:extLst>
                    <a:ext uri="{9D8B030D-6E8A-4147-A177-3AD203B41FA5}">
                      <a16:colId xmlns:a16="http://schemas.microsoft.com/office/drawing/2014/main" val="2384804649"/>
                    </a:ext>
                  </a:extLst>
                </a:gridCol>
                <a:gridCol w="1354328">
                  <a:extLst>
                    <a:ext uri="{9D8B030D-6E8A-4147-A177-3AD203B41FA5}">
                      <a16:colId xmlns:a16="http://schemas.microsoft.com/office/drawing/2014/main" val="3604194849"/>
                    </a:ext>
                  </a:extLst>
                </a:gridCol>
                <a:gridCol w="3630156">
                  <a:extLst>
                    <a:ext uri="{9D8B030D-6E8A-4147-A177-3AD203B41FA5}">
                      <a16:colId xmlns:a16="http://schemas.microsoft.com/office/drawing/2014/main" val="3545339358"/>
                    </a:ext>
                  </a:extLst>
                </a:gridCol>
              </a:tblGrid>
              <a:tr h="27256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Item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Quantity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Opex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raphik" panose="020B0503030202060203" pitchFamily="34" charset="0"/>
                        </a:rPr>
                        <a:t>Comments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836458"/>
                  </a:ext>
                </a:extLst>
              </a:tr>
              <a:tr h="2557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AWS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ja-JP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  <a:ea typeface="+mn-ea"/>
                          <a:cs typeface="+mn-cs"/>
                        </a:rPr>
                        <a:t>$26,542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Onboard to GMCS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52263"/>
                  </a:ext>
                </a:extLst>
              </a:tr>
              <a:tr h="2474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10% contingency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$2,654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Graphik" panose="020B0503030202060203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295923"/>
                  </a:ext>
                </a:extLst>
              </a:tr>
              <a:tr h="28230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Total</a:t>
                      </a:r>
                    </a:p>
                  </a:txBody>
                  <a:tcPr marL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 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$29,196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Graphik" panose="020B0503030202060203" pitchFamily="34" charset="0"/>
                        </a:rPr>
                        <a:t> 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4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89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2EBC-A356-4477-A2E0-6029736304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76CF-9290-46E6-AEF6-2CE39CA734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3600" dirty="0"/>
              <a:t>Website Migration </a:t>
            </a:r>
          </a:p>
          <a:p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32B0-073F-4560-8E57-795244EFB7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5163" y="3675309"/>
            <a:ext cx="6841673" cy="1544391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r>
              <a:rPr lang="en-US" dirty="0"/>
              <a:t>               – Website Migration Plan </a:t>
            </a:r>
          </a:p>
          <a:p>
            <a:r>
              <a:rPr lang="en-US" dirty="0"/>
              <a:t>               </a:t>
            </a:r>
          </a:p>
          <a:p>
            <a:r>
              <a:rPr lang="en-US" dirty="0"/>
              <a:t>          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5819-DF70-49ED-B32F-D7C5F04EF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074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E9115-2F08-4DB9-8C92-B1CCF963D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8FE69-A44B-4BE6-A3DD-378A30A7D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733DA-87D9-4147-959D-8C8E8ECFD24B}"/>
              </a:ext>
            </a:extLst>
          </p:cNvPr>
          <p:cNvSpPr txBox="1"/>
          <p:nvPr/>
        </p:nvSpPr>
        <p:spPr>
          <a:xfrm>
            <a:off x="1210088" y="213548"/>
            <a:ext cx="9076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Graphik"/>
                <a:ea typeface="+mj-ea"/>
                <a:cs typeface="+mj-cs"/>
              </a:rPr>
              <a:t>Website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DCAFFF">
                    <a:lumMod val="75000"/>
                  </a:srgbClr>
                </a:solidFill>
                <a:effectLst/>
                <a:uLnTx/>
                <a:uFillTx/>
                <a:latin typeface="Graphik Semibold"/>
                <a:ea typeface="+mj-ea"/>
                <a:cs typeface="+mj-cs"/>
              </a:rPr>
              <a:t>Migration Plan -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raphik Semibold"/>
                <a:ea typeface="+mj-ea"/>
                <a:cs typeface="+mj-cs"/>
              </a:rPr>
              <a:t>NA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A1DF6-2730-311C-90C7-A83DB8E0803A}"/>
              </a:ext>
            </a:extLst>
          </p:cNvPr>
          <p:cNvSpPr txBox="1"/>
          <p:nvPr/>
        </p:nvSpPr>
        <p:spPr>
          <a:xfrm>
            <a:off x="999241" y="1461155"/>
            <a:ext cx="9417378" cy="10840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kumimoji="1" lang="en-US" altLang="ja-JP" noProof="0" dirty="0"/>
              <a:t>The existing 2 public websites hosted on </a:t>
            </a:r>
            <a:r>
              <a:rPr kumimoji="1" lang="en-US" altLang="ja-JP" noProof="0" dirty="0" err="1"/>
              <a:t>unbounce</a:t>
            </a:r>
            <a:r>
              <a:rPr kumimoji="1" lang="en-US" altLang="ja-JP" noProof="0" dirty="0"/>
              <a:t>, previously used for marketing campaigns will be decommissioned. </a:t>
            </a:r>
            <a:endParaRPr kumimoji="1"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73964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02EBC-A356-4477-A2E0-6029736304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76CF-9290-46E6-AEF6-2CE39CA7344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3600" dirty="0"/>
              <a:t>Appendix </a:t>
            </a:r>
          </a:p>
          <a:p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32B0-073F-4560-8E57-795244EFB7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08488" y="3561009"/>
            <a:ext cx="7202262" cy="2544516"/>
          </a:xfrm>
        </p:spPr>
        <p:txBody>
          <a:bodyPr/>
          <a:lstStyle/>
          <a:p>
            <a:r>
              <a:rPr lang="en-US" dirty="0"/>
              <a:t>               – Hosting Integration Considerations</a:t>
            </a:r>
          </a:p>
          <a:p>
            <a:r>
              <a:rPr lang="en-US" dirty="0"/>
              <a:t>               – Risk and Dependencies</a:t>
            </a:r>
          </a:p>
          <a:p>
            <a:r>
              <a:rPr lang="en-US" dirty="0"/>
              <a:t>               – Key Assumptions</a:t>
            </a:r>
          </a:p>
          <a:p>
            <a:r>
              <a:rPr lang="en-US" dirty="0"/>
              <a:t>               – Hosting Integration Execution Success Criteria</a:t>
            </a:r>
          </a:p>
          <a:p>
            <a:r>
              <a:rPr lang="en-US" dirty="0"/>
              <a:t>               – Operations Support Matrix</a:t>
            </a:r>
          </a:p>
          <a:p>
            <a:r>
              <a:rPr lang="en-US" dirty="0"/>
              <a:t>               – Hosting Integration Out of Scope</a:t>
            </a:r>
          </a:p>
          <a:p>
            <a:r>
              <a:rPr lang="en-US" dirty="0"/>
              <a:t>               – Accenture Security Standards</a:t>
            </a:r>
          </a:p>
          <a:p>
            <a:r>
              <a:rPr lang="en-US" dirty="0"/>
              <a:t>               – Contacts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5819-DF70-49ED-B32F-D7C5F04EF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01603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AA67E-AD6C-45EF-9083-969B8D015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E15BA-372A-4CB4-A525-0099089BB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ED8049-9F87-4F4C-A308-35250E446EA2}"/>
              </a:ext>
            </a:extLst>
          </p:cNvPr>
          <p:cNvSpPr txBox="1">
            <a:spLocks/>
          </p:cNvSpPr>
          <p:nvPr/>
        </p:nvSpPr>
        <p:spPr>
          <a:xfrm>
            <a:off x="381000" y="108854"/>
            <a:ext cx="11274458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Hosting Integration –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Considerations</a:t>
            </a:r>
            <a:r>
              <a:rPr lang="en-US" dirty="0">
                <a:solidFill>
                  <a:srgbClr val="000000"/>
                </a:solidFill>
                <a:latin typeface="Graphik"/>
              </a:rPr>
              <a:t> 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DCAFFF">
                  <a:lumMod val="75000"/>
                </a:srgbClr>
              </a:solidFill>
              <a:effectLst/>
              <a:uLnTx/>
              <a:uFillTx/>
              <a:latin typeface="Graphik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00976F-F1F4-4263-AEE2-8809F6631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486700"/>
              </p:ext>
            </p:extLst>
          </p:nvPr>
        </p:nvGraphicFramePr>
        <p:xfrm>
          <a:off x="856881" y="787119"/>
          <a:ext cx="10322696" cy="1670321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49802746"/>
                    </a:ext>
                  </a:extLst>
                </a:gridCol>
                <a:gridCol w="8608196">
                  <a:extLst>
                    <a:ext uri="{9D8B030D-6E8A-4147-A177-3AD203B41FA5}">
                      <a16:colId xmlns:a16="http://schemas.microsoft.com/office/drawing/2014/main" val="1819865925"/>
                    </a:ext>
                  </a:extLst>
                </a:gridCol>
              </a:tblGrid>
              <a:tr h="3803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Integration Plan</a:t>
                      </a:r>
                    </a:p>
                  </a:txBody>
                  <a:tcPr marL="180000" marR="58353" marT="0" marB="0" anchor="ctr">
                    <a:gradFill>
                      <a:gsLst>
                        <a:gs pos="40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54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353" marR="58353" marT="0" marB="0" anchor="ctr">
                    <a:solidFill>
                      <a:srgbClr val="AC4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184999"/>
                  </a:ext>
                </a:extLst>
              </a:tr>
              <a:tr h="59735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AWS Account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This account will be onboarded as is on the GMCS landing zone. Moving resources to GMCS core will be a post PMI activity basis the finalization between project and GMCS post PMI.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764831005"/>
                  </a:ext>
                </a:extLst>
              </a:tr>
              <a:tr h="59735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Application Architecture</a:t>
                      </a: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Available in the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  <a:hlinkClick r:id="rId2"/>
                        </a:rPr>
                        <a:t>hosting folder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196137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12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2A051C-8221-4919-B80E-504AD1211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C052A-78FB-4BE8-AA31-22B474350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45BBF1-C166-48FE-8741-051B419B3762}"/>
              </a:ext>
            </a:extLst>
          </p:cNvPr>
          <p:cNvSpPr txBox="1">
            <a:spLocks/>
          </p:cNvSpPr>
          <p:nvPr/>
        </p:nvSpPr>
        <p:spPr>
          <a:xfrm>
            <a:off x="381000" y="314730"/>
            <a:ext cx="11460472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Hosting Integration -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Risk and Dependencies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9A5164-59A7-46DA-8603-E32473F59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659519"/>
              </p:ext>
            </p:extLst>
          </p:nvPr>
        </p:nvGraphicFramePr>
        <p:xfrm>
          <a:off x="1185333" y="1498779"/>
          <a:ext cx="10072015" cy="2328818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091267">
                  <a:extLst>
                    <a:ext uri="{9D8B030D-6E8A-4147-A177-3AD203B41FA5}">
                      <a16:colId xmlns:a16="http://schemas.microsoft.com/office/drawing/2014/main" val="49802746"/>
                    </a:ext>
                  </a:extLst>
                </a:gridCol>
                <a:gridCol w="7980748">
                  <a:extLst>
                    <a:ext uri="{9D8B030D-6E8A-4147-A177-3AD203B41FA5}">
                      <a16:colId xmlns:a16="http://schemas.microsoft.com/office/drawing/2014/main" val="1819865925"/>
                    </a:ext>
                  </a:extLst>
                </a:gridCol>
              </a:tblGrid>
              <a:tr h="38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Risk and </a:t>
                      </a:r>
                      <a:r>
                        <a:rPr lang="en-US" altLang="ja-JP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Dependencies </a:t>
                      </a:r>
                    </a:p>
                  </a:txBody>
                  <a:tcPr marL="180000" marR="58353" marT="0" marB="0" anchor="ctr">
                    <a:gradFill>
                      <a:gsLst>
                        <a:gs pos="40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54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353" marR="58353" marT="0" marB="0" anchor="ctr">
                    <a:solidFill>
                      <a:srgbClr val="AC4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184999"/>
                  </a:ext>
                </a:extLst>
              </a:tr>
              <a:tr h="38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Information Security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Accenture standards will be followed for any applications vulnerabilities and their remediations.</a:t>
                      </a: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2155997400"/>
                  </a:ext>
                </a:extLst>
              </a:tr>
              <a:tr h="52147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Accenture Standards</a:t>
                      </a: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DS to review the Accenture Information Security Standards for complete compliance. Refer the complete list standards in </a:t>
                      </a:r>
                      <a:r>
                        <a:rPr lang="en-US" sz="1200" dirty="0">
                          <a:effectLst/>
                          <a:hlinkClick r:id="rId2" action="ppaction://hlinksldjump"/>
                        </a:rPr>
                        <a:t>Appendix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ja-JP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Accenture laptops and enterprise IDs required for Accenture SSL VPN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ja-JP" sz="1200" b="0" dirty="0"/>
                        <a:t>Accenture operate a Firewall Approved Services Matrix </a:t>
                      </a:r>
                      <a:r>
                        <a:rPr lang="en-US" altLang="ja-JP" sz="1200" dirty="0">
                          <a:effectLst/>
                          <a:hlinkClick r:id="rId3" tooltip="https://egrc.accenture.com/apps/archerapp/home.aspx"/>
                        </a:rPr>
                        <a:t>(FASM) </a:t>
                      </a:r>
                      <a:r>
                        <a:rPr lang="en-US" altLang="ja-JP" sz="1200" b="0" dirty="0"/>
                        <a:t>which dictates what ports can and can‘t be opened between various devices/servers, which may not match PiP rules.</a:t>
                      </a:r>
                      <a:endParaRPr lang="en-US" altLang="ja-JP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3805756545"/>
                  </a:ext>
                </a:extLst>
              </a:tr>
              <a:tr h="3803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disposition</a:t>
                      </a: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3223914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244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AA67E-AD6C-45EF-9083-969B8D015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E15BA-372A-4CB4-A525-0099089BB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ED8049-9F87-4F4C-A308-35250E446EA2}"/>
              </a:ext>
            </a:extLst>
          </p:cNvPr>
          <p:cNvSpPr txBox="1">
            <a:spLocks/>
          </p:cNvSpPr>
          <p:nvPr/>
        </p:nvSpPr>
        <p:spPr>
          <a:xfrm>
            <a:off x="381634" y="345036"/>
            <a:ext cx="11274458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Key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Assumptions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00976F-F1F4-4263-AEE2-8809F6631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743476"/>
              </p:ext>
            </p:extLst>
          </p:nvPr>
        </p:nvGraphicFramePr>
        <p:xfrm>
          <a:off x="857515" y="1829199"/>
          <a:ext cx="10322696" cy="3394197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468845">
                  <a:extLst>
                    <a:ext uri="{9D8B030D-6E8A-4147-A177-3AD203B41FA5}">
                      <a16:colId xmlns:a16="http://schemas.microsoft.com/office/drawing/2014/main" val="49802746"/>
                    </a:ext>
                  </a:extLst>
                </a:gridCol>
                <a:gridCol w="7853851">
                  <a:extLst>
                    <a:ext uri="{9D8B030D-6E8A-4147-A177-3AD203B41FA5}">
                      <a16:colId xmlns:a16="http://schemas.microsoft.com/office/drawing/2014/main" val="1819865925"/>
                    </a:ext>
                  </a:extLst>
                </a:gridCol>
              </a:tblGrid>
              <a:tr h="3803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Assumptions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80000" marR="58353" marT="0" marB="0" anchor="ctr">
                    <a:gradFill>
                      <a:gsLst>
                        <a:gs pos="40000">
                          <a:schemeClr val="accent3"/>
                        </a:gs>
                        <a:gs pos="100000">
                          <a:schemeClr val="accent4"/>
                        </a:gs>
                      </a:gsLst>
                      <a:lin ang="54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anose="020B0604020202020204" pitchFamily="34" charset="0"/>
                        <a:buChar char="•"/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8353" marR="58353" marT="0" marB="0" anchor="ctr">
                    <a:solidFill>
                      <a:srgbClr val="AC4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184999"/>
                  </a:ext>
                </a:extLst>
              </a:tr>
              <a:tr h="59735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Overall assumptions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DS mostly utilizes PaaS &amp; SaaS, minimal  infrastructure is available</a:t>
                      </a:r>
                    </a:p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OS  and VM infrastructure level support will provide by DS IT team and GMCS. </a:t>
                      </a:r>
                    </a:p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Applications and DB will be supported and managed by the DS IT team.</a:t>
                      </a: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2802154181"/>
                  </a:ext>
                </a:extLst>
              </a:tr>
              <a:tr h="59735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Website support</a:t>
                      </a: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Marketing team and DS IT team will be managing the websites</a:t>
                      </a: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4095883713"/>
                  </a:ext>
                </a:extLst>
              </a:tr>
              <a:tr h="538546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Infrastructure</a:t>
                      </a: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OS level patch and vulnerability management are supported by </a:t>
                      </a:r>
                      <a:r>
                        <a:rPr lang="en-US" altLang="ja-JP" sz="1200" dirty="0">
                          <a:effectLst/>
                        </a:rPr>
                        <a:t>DS IT team and </a:t>
                      </a:r>
                      <a:r>
                        <a:rPr lang="en-US" sz="1200" dirty="0">
                          <a:effectLst/>
                        </a:rPr>
                        <a:t>GMCS.</a:t>
                      </a:r>
                    </a:p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Vulnerability related to applications will be remediated by </a:t>
                      </a:r>
                      <a:r>
                        <a:rPr lang="en-US" altLang="ja-JP" sz="1200" dirty="0">
                          <a:effectLst/>
                        </a:rPr>
                        <a:t>DS application owner.</a:t>
                      </a:r>
                    </a:p>
                    <a:p>
                      <a:pPr marL="171450" marR="0" indent="-1714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effectLst/>
                        </a:rPr>
                        <a:t>The environment will be accessed by Accenture personnel only.</a:t>
                      </a: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3008523241"/>
                  </a:ext>
                </a:extLst>
              </a:tr>
              <a:tr h="3803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Information Security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Remote access to the servers via Accenture network standard VPN.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firewall rules would be governed by Accenture Security FASM (Firewall Approved Security Matrix).</a:t>
                      </a: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1086054385"/>
                  </a:ext>
                </a:extLst>
              </a:tr>
              <a:tr h="52147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Back-up and DR</a:t>
                      </a:r>
                    </a:p>
                  </a:txBody>
                  <a:tcPr marL="180000" marR="72000" marT="72000" marB="72000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Existing configured backup and DR to be utilized.</a:t>
                      </a:r>
                    </a:p>
                  </a:txBody>
                  <a:tcPr marL="180000" marR="72000" marT="72000" marB="72000"/>
                </a:tc>
                <a:extLst>
                  <a:ext uri="{0D108BD9-81ED-4DB2-BD59-A6C34878D82A}">
                    <a16:rowId xmlns:a16="http://schemas.microsoft.com/office/drawing/2014/main" val="3805756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278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BAE0E-BBBD-41CF-992F-F13FAEE7E6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43413" y="6597799"/>
            <a:ext cx="3175200" cy="132523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C44BC5-FC48-4F48-A141-6EA96BCDA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4" y="201360"/>
            <a:ext cx="11460472" cy="498598"/>
          </a:xfrm>
        </p:spPr>
        <p:txBody>
          <a:bodyPr/>
          <a:lstStyle/>
          <a:p>
            <a:r>
              <a:rPr lang="en-US" dirty="0"/>
              <a:t>Inventory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Assessment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Summary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14A1BFD-1790-4688-B16D-15502A497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190019"/>
              </p:ext>
            </p:extLst>
          </p:nvPr>
        </p:nvGraphicFramePr>
        <p:xfrm>
          <a:off x="573387" y="753845"/>
          <a:ext cx="10863127" cy="114300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{2D5ABB26-0587-4C30-8999-92F81FD0307C}</a:tableStyleId>
              </a:tblPr>
              <a:tblGrid>
                <a:gridCol w="1148435">
                  <a:extLst>
                    <a:ext uri="{9D8B030D-6E8A-4147-A177-3AD203B41FA5}">
                      <a16:colId xmlns:a16="http://schemas.microsoft.com/office/drawing/2014/main" val="1112295770"/>
                    </a:ext>
                  </a:extLst>
                </a:gridCol>
                <a:gridCol w="1446251">
                  <a:extLst>
                    <a:ext uri="{9D8B030D-6E8A-4147-A177-3AD203B41FA5}">
                      <a16:colId xmlns:a16="http://schemas.microsoft.com/office/drawing/2014/main" val="530228342"/>
                    </a:ext>
                  </a:extLst>
                </a:gridCol>
                <a:gridCol w="1307603">
                  <a:extLst>
                    <a:ext uri="{9D8B030D-6E8A-4147-A177-3AD203B41FA5}">
                      <a16:colId xmlns:a16="http://schemas.microsoft.com/office/drawing/2014/main" val="3358550492"/>
                    </a:ext>
                  </a:extLst>
                </a:gridCol>
                <a:gridCol w="1410774">
                  <a:extLst>
                    <a:ext uri="{9D8B030D-6E8A-4147-A177-3AD203B41FA5}">
                      <a16:colId xmlns:a16="http://schemas.microsoft.com/office/drawing/2014/main" val="3153726186"/>
                    </a:ext>
                  </a:extLst>
                </a:gridCol>
                <a:gridCol w="1318103">
                  <a:extLst>
                    <a:ext uri="{9D8B030D-6E8A-4147-A177-3AD203B41FA5}">
                      <a16:colId xmlns:a16="http://schemas.microsoft.com/office/drawing/2014/main" val="675874689"/>
                    </a:ext>
                  </a:extLst>
                </a:gridCol>
                <a:gridCol w="1243409">
                  <a:extLst>
                    <a:ext uri="{9D8B030D-6E8A-4147-A177-3AD203B41FA5}">
                      <a16:colId xmlns:a16="http://schemas.microsoft.com/office/drawing/2014/main" val="3118277082"/>
                    </a:ext>
                  </a:extLst>
                </a:gridCol>
                <a:gridCol w="2988552">
                  <a:extLst>
                    <a:ext uri="{9D8B030D-6E8A-4147-A177-3AD203B41FA5}">
                      <a16:colId xmlns:a16="http://schemas.microsoft.com/office/drawing/2014/main" val="2949739574"/>
                    </a:ext>
                  </a:extLst>
                </a:gridCol>
              </a:tblGrid>
              <a:tr h="4189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Qty</a:t>
                      </a: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Type of Resources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Graphik" panose="020B0503030202060203" pitchFamily="34" charset="77"/>
                        <a:cs typeface="Arial"/>
                      </a:endParaRP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Location </a:t>
                      </a: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Hosting type </a:t>
                      </a: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Disposition</a:t>
                      </a: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Destination</a:t>
                      </a: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  <a:cs typeface="Arial"/>
                        </a:rPr>
                        <a:t>Remark </a:t>
                      </a:r>
                    </a:p>
                  </a:txBody>
                  <a:tcPr marL="100584" marR="100584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168264"/>
                  </a:ext>
                </a:extLst>
              </a:tr>
              <a:tr h="24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1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cloud account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AWS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baseline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Public cloud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baseline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Migrate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AWS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Onboard account to (GMCS)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922390"/>
                  </a:ext>
                </a:extLst>
              </a:tr>
              <a:tr h="24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2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Website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Unbounce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Graphik" panose="020B0503030202060203" pitchFamily="34" charset="77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  <a:latin typeface="Graphik" panose="020B0503030202060203" pitchFamily="34" charset="77"/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100" b="0" baseline="0" dirty="0" err="1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Unbounce</a:t>
                      </a:r>
                      <a:endParaRPr lang="en-US" altLang="ja-JP" sz="1100" b="0" baseline="0" dirty="0">
                        <a:solidFill>
                          <a:schemeClr val="tx1"/>
                        </a:solidFill>
                        <a:latin typeface="Graphik" panose="020B0503030202060203" pitchFamily="34" charset="77"/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baseline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Decommission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WPE</a:t>
                      </a: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Decommission public website resources on </a:t>
                      </a:r>
                      <a:r>
                        <a:rPr lang="en-US" sz="1100" b="0" dirty="0" err="1">
                          <a:solidFill>
                            <a:schemeClr val="tx1"/>
                          </a:solidFill>
                          <a:latin typeface="Graphik" panose="020B0503030202060203" pitchFamily="34" charset="77"/>
                        </a:rPr>
                        <a:t>unbounce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Graphik" panose="020B0503030202060203" pitchFamily="34" charset="77"/>
                      </a:endParaRPr>
                    </a:p>
                  </a:txBody>
                  <a:tcPr marL="100584" marR="10058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359298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C83436-8A30-4C38-A890-186E286DF26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76872E1-3CB8-45EA-A826-1429BD5BE353}" type="slidenum">
              <a:rPr lang="en-CA" smtClean="0"/>
              <a:pPr/>
              <a:t>20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FF489-4A8F-DF6B-0BCA-885CDE4FB33B}"/>
              </a:ext>
            </a:extLst>
          </p:cNvPr>
          <p:cNvSpPr txBox="1"/>
          <p:nvPr/>
        </p:nvSpPr>
        <p:spPr>
          <a:xfrm>
            <a:off x="898892" y="4693631"/>
            <a:ext cx="100978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The inventory provided by DS has been uploaded into the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  <a:hlinkClick r:id="rId3"/>
              </a:rPr>
              <a:t>ISIT Hosting folder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, was reviewed and dispositions assigned for each server with input from the by </a:t>
            </a:r>
            <a:r>
              <a:rPr lang="en-GB" sz="1400" dirty="0">
                <a:solidFill>
                  <a:srgbClr val="000000"/>
                </a:solidFill>
                <a:latin typeface="Graphik"/>
              </a:rPr>
              <a:t>DS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IT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team.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This is the basis for of hosting scope.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C0C0C0"/>
              </a:highlight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C0C0C0"/>
              </a:highlight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601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AAB38E-9A32-4515-9240-D8297D6C5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87526-A0C8-4921-87BD-A524F61C7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3E73C86-79A9-4CCB-83D9-FFA988EE9006}"/>
              </a:ext>
            </a:extLst>
          </p:cNvPr>
          <p:cNvSpPr txBox="1">
            <a:spLocks/>
          </p:cNvSpPr>
          <p:nvPr/>
        </p:nvSpPr>
        <p:spPr>
          <a:xfrm>
            <a:off x="365893" y="428277"/>
            <a:ext cx="11460213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Hosting Integration Execution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Success Criteria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B82DD-F556-47CD-A720-BBD1C1D94376}"/>
              </a:ext>
            </a:extLst>
          </p:cNvPr>
          <p:cNvSpPr txBox="1"/>
          <p:nvPr/>
        </p:nvSpPr>
        <p:spPr>
          <a:xfrm>
            <a:off x="485480" y="1122481"/>
            <a:ext cx="11221037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b="1" dirty="0"/>
              <a:t>The project will be deemed successful when </a:t>
            </a:r>
            <a:r>
              <a:rPr lang="en-US" sz="1867" b="1" dirty="0" err="1"/>
              <a:t>DataStories</a:t>
            </a:r>
            <a:r>
              <a:rPr lang="en-US" sz="1867" b="1" dirty="0"/>
              <a:t> confirms successful completion of: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24327-306D-4323-93CD-CBF4272A47AA}"/>
              </a:ext>
            </a:extLst>
          </p:cNvPr>
          <p:cNvSpPr txBox="1"/>
          <p:nvPr/>
        </p:nvSpPr>
        <p:spPr>
          <a:xfrm>
            <a:off x="463256" y="1985064"/>
            <a:ext cx="11221037" cy="2965748"/>
          </a:xfrm>
          <a:custGeom>
            <a:avLst/>
            <a:gdLst>
              <a:gd name="connsiteX0" fmla="*/ 0 w 11221037"/>
              <a:gd name="connsiteY0" fmla="*/ 0 h 2882969"/>
              <a:gd name="connsiteX1" fmla="*/ 11221037 w 11221037"/>
              <a:gd name="connsiteY1" fmla="*/ 0 h 2882969"/>
              <a:gd name="connsiteX2" fmla="*/ 11221037 w 11221037"/>
              <a:gd name="connsiteY2" fmla="*/ 2882969 h 2882969"/>
              <a:gd name="connsiteX3" fmla="*/ 0 w 11221037"/>
              <a:gd name="connsiteY3" fmla="*/ 2882969 h 2882969"/>
              <a:gd name="connsiteX4" fmla="*/ 0 w 11221037"/>
              <a:gd name="connsiteY4" fmla="*/ 0 h 2882969"/>
              <a:gd name="connsiteX0" fmla="*/ 0 w 11221037"/>
              <a:gd name="connsiteY0" fmla="*/ 0 h 2882969"/>
              <a:gd name="connsiteX1" fmla="*/ 11221037 w 11221037"/>
              <a:gd name="connsiteY1" fmla="*/ 0 h 2882969"/>
              <a:gd name="connsiteX2" fmla="*/ 10008463 w 11221037"/>
              <a:gd name="connsiteY2" fmla="*/ 2545038 h 2882969"/>
              <a:gd name="connsiteX3" fmla="*/ 0 w 11221037"/>
              <a:gd name="connsiteY3" fmla="*/ 2882969 h 2882969"/>
              <a:gd name="connsiteX4" fmla="*/ 0 w 11221037"/>
              <a:gd name="connsiteY4" fmla="*/ 0 h 288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1037" h="2882969">
                <a:moveTo>
                  <a:pt x="0" y="0"/>
                </a:moveTo>
                <a:lnTo>
                  <a:pt x="11221037" y="0"/>
                </a:lnTo>
                <a:lnTo>
                  <a:pt x="10008463" y="2545038"/>
                </a:lnTo>
                <a:lnTo>
                  <a:pt x="0" y="2882969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rtlCol="0">
            <a:spAutoFit/>
          </a:bodyPr>
          <a:lstStyle/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ja-JP" sz="1867" dirty="0"/>
              <a:t>Servers hosted in ACN approved Cloud platforms  are accessible per the blueprint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ja-JP" sz="1867" dirty="0"/>
              <a:t>Successful UAT of applications after onboarding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ja-JP" sz="1867" dirty="0"/>
              <a:t>Remote access solution successfully tested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ja-JP" sz="1867" dirty="0"/>
              <a:t>Environment is being monitored and SOC compliant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ja-JP" sz="1867" dirty="0"/>
              <a:t>The legacy AWS account has been onboarded on Accenture standard platforms</a:t>
            </a:r>
          </a:p>
          <a:p>
            <a:pPr marL="380990" indent="-38099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67" dirty="0"/>
              <a:t>Decommission legacy accounts/resources (</a:t>
            </a:r>
            <a:r>
              <a:rPr lang="en-US" sz="1867" dirty="0" err="1"/>
              <a:t>Unbounce</a:t>
            </a:r>
            <a:r>
              <a:rPr lang="en-US" sz="1867" dirty="0"/>
              <a:t>).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936158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AF575A-6A89-404F-AC0B-20CAD6614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98091-F893-42C4-AFBF-6442AF792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98FAB6-9CCB-47AF-88F5-A18F68638F2C}"/>
              </a:ext>
            </a:extLst>
          </p:cNvPr>
          <p:cNvSpPr txBox="1">
            <a:spLocks/>
          </p:cNvSpPr>
          <p:nvPr/>
        </p:nvSpPr>
        <p:spPr>
          <a:xfrm>
            <a:off x="420753" y="476470"/>
            <a:ext cx="11460472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Hosting Operations 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</a:rPr>
              <a:t>Support Matrix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818B721D-EB88-43CD-ADB8-1C25C4A29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856093"/>
              </p:ext>
            </p:extLst>
          </p:nvPr>
        </p:nvGraphicFramePr>
        <p:xfrm>
          <a:off x="420753" y="2345296"/>
          <a:ext cx="11460472" cy="13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691">
                  <a:extLst>
                    <a:ext uri="{9D8B030D-6E8A-4147-A177-3AD203B41FA5}">
                      <a16:colId xmlns:a16="http://schemas.microsoft.com/office/drawing/2014/main" val="395585677"/>
                    </a:ext>
                  </a:extLst>
                </a:gridCol>
                <a:gridCol w="1345747">
                  <a:extLst>
                    <a:ext uri="{9D8B030D-6E8A-4147-A177-3AD203B41FA5}">
                      <a16:colId xmlns:a16="http://schemas.microsoft.com/office/drawing/2014/main" val="1659125040"/>
                    </a:ext>
                  </a:extLst>
                </a:gridCol>
                <a:gridCol w="1445409">
                  <a:extLst>
                    <a:ext uri="{9D8B030D-6E8A-4147-A177-3AD203B41FA5}">
                      <a16:colId xmlns:a16="http://schemas.microsoft.com/office/drawing/2014/main" val="1787503781"/>
                    </a:ext>
                  </a:extLst>
                </a:gridCol>
                <a:gridCol w="850532">
                  <a:extLst>
                    <a:ext uri="{9D8B030D-6E8A-4147-A177-3AD203B41FA5}">
                      <a16:colId xmlns:a16="http://schemas.microsoft.com/office/drawing/2014/main" val="1415778373"/>
                    </a:ext>
                  </a:extLst>
                </a:gridCol>
                <a:gridCol w="4228093">
                  <a:extLst>
                    <a:ext uri="{9D8B030D-6E8A-4147-A177-3AD203B41FA5}">
                      <a16:colId xmlns:a16="http://schemas.microsoft.com/office/drawing/2014/main" val="421384874"/>
                    </a:ext>
                  </a:extLst>
                </a:gridCol>
              </a:tblGrid>
              <a:tr h="385599">
                <a:tc>
                  <a:txBody>
                    <a:bodyPr/>
                    <a:lstStyle/>
                    <a:p>
                      <a:r>
                        <a:rPr lang="en-US" sz="1200" dirty="0"/>
                        <a:t>Hosting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Provider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Owner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Supporting team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61297"/>
                  </a:ext>
                </a:extLst>
              </a:tr>
              <a:tr h="965601">
                <a:tc>
                  <a:txBody>
                    <a:bodyPr/>
                    <a:lstStyle/>
                    <a:p>
                      <a:r>
                        <a:rPr lang="en-US" sz="1200" dirty="0"/>
                        <a:t>Public Cloud 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 GMCS/ Project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Cloud infrastructure will be supported by GMCS.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OS  and VM level support will provide by GMCS. </a:t>
                      </a:r>
                    </a:p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Application/DB will be supported and managed by </a:t>
                      </a:r>
                      <a:r>
                        <a:rPr lang="en-US" altLang="ja-JP" sz="1200" dirty="0"/>
                        <a:t>DS IT team and application owners</a:t>
                      </a:r>
                      <a:r>
                        <a:rPr lang="en-US" sz="12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90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712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B4DB32-7B18-3A53-1DBC-2BC1508EF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8F9FDF-2ED2-2E72-2EAD-1377E1980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72C4E5-C844-892A-D13D-56657FCCE5B9}"/>
              </a:ext>
            </a:extLst>
          </p:cNvPr>
          <p:cNvSpPr txBox="1">
            <a:spLocks/>
          </p:cNvSpPr>
          <p:nvPr/>
        </p:nvSpPr>
        <p:spPr>
          <a:xfrm>
            <a:off x="365764" y="447895"/>
            <a:ext cx="11460472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3603456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938D1-E777-40B4-A41A-3D2BA0F64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40D63-4A86-4E3F-8A59-2EA474BF7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BE044D2-C381-444C-A459-D957C4B2CAF2}"/>
              </a:ext>
            </a:extLst>
          </p:cNvPr>
          <p:cNvSpPr txBox="1">
            <a:spLocks/>
          </p:cNvSpPr>
          <p:nvPr/>
        </p:nvSpPr>
        <p:spPr>
          <a:xfrm>
            <a:off x="349200" y="346108"/>
            <a:ext cx="11460213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Hosting Integration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Out of Scope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E9E529-6F5A-415F-BABC-D97BA2C033E0}"/>
              </a:ext>
            </a:extLst>
          </p:cNvPr>
          <p:cNvGrpSpPr/>
          <p:nvPr/>
        </p:nvGrpSpPr>
        <p:grpSpPr>
          <a:xfrm>
            <a:off x="381000" y="1869401"/>
            <a:ext cx="11429999" cy="3119197"/>
            <a:chOff x="3808249" y="1626973"/>
            <a:chExt cx="8002751" cy="31191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4E81EB9-9476-469B-98A9-4237FD92FA68}"/>
                </a:ext>
              </a:extLst>
            </p:cNvPr>
            <p:cNvSpPr/>
            <p:nvPr/>
          </p:nvSpPr>
          <p:spPr>
            <a:xfrm>
              <a:off x="3808249" y="1626973"/>
              <a:ext cx="8002750" cy="61371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tIns="91440" bIns="91440" rtlCol="0" anchor="ctr"/>
            <a:lstStyle/>
            <a:p>
              <a:pPr lvl="0">
                <a:buClr>
                  <a:srgbClr val="000000"/>
                </a:buClr>
                <a:defRPr/>
              </a:pPr>
              <a:r>
                <a:rPr lang="en-US" sz="1600" b="1" kern="0" dirty="0">
                  <a:latin typeface="+mj-lt"/>
                  <a:ea typeface="Arial Black"/>
                  <a:cs typeface="Arial Black" panose="020B0604020202020204" pitchFamily="34" charset="0"/>
                  <a:sym typeface="Arial Black"/>
                </a:rPr>
                <a:t>Out of Scope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0134A9-9AE7-4470-B035-D761206DFFD1}"/>
                </a:ext>
              </a:extLst>
            </p:cNvPr>
            <p:cNvSpPr/>
            <p:nvPr/>
          </p:nvSpPr>
          <p:spPr>
            <a:xfrm>
              <a:off x="3808249" y="2240691"/>
              <a:ext cx="8002751" cy="250547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tIns="91440" bIns="91440" rtlCol="0" anchor="t"/>
            <a:lstStyle/>
            <a:p>
              <a:pPr marL="285750" lvl="0" indent="-285750">
                <a:spcAft>
                  <a:spcPts val="1200"/>
                </a:spcAft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+mj-lt"/>
                  <a:sym typeface="Arial"/>
                </a:rPr>
                <a:t>Application installation, configuration and patching effort. With application workstream. </a:t>
              </a:r>
            </a:p>
            <a:p>
              <a:pPr marL="285750" lvl="0" indent="-285750">
                <a:spcAft>
                  <a:spcPts val="1200"/>
                </a:spcAft>
                <a:buClr>
                  <a:srgbClr val="000000"/>
                </a:buClr>
                <a:buFont typeface="Wingdings" panose="05000000000000000000" pitchFamily="2" charset="2"/>
                <a:buChar char="§"/>
                <a:defRPr/>
              </a:pPr>
              <a:r>
                <a:rPr lang="en-US" sz="1400" kern="0" dirty="0">
                  <a:solidFill>
                    <a:srgbClr val="000000"/>
                  </a:solidFill>
                  <a:latin typeface="+mj-lt"/>
                  <a:sym typeface="Arial"/>
                </a:rPr>
                <a:t>Application software licensing cost. Application workstream.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6731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4338C-3D8E-4212-A9BB-AB3E53992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94ED2-EBB7-49DB-9078-223FFEE18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32FE0AB-9797-4A0E-AAC6-E6B806B671A1}"/>
              </a:ext>
            </a:extLst>
          </p:cNvPr>
          <p:cNvSpPr txBox="1">
            <a:spLocks/>
          </p:cNvSpPr>
          <p:nvPr/>
        </p:nvSpPr>
        <p:spPr>
          <a:xfrm>
            <a:off x="349200" y="346108"/>
            <a:ext cx="11460213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Accenture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Security Standards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E22A1C-31F0-44A6-AFAD-94CA35C8EBDF}"/>
              </a:ext>
            </a:extLst>
          </p:cNvPr>
          <p:cNvSpPr/>
          <p:nvPr/>
        </p:nvSpPr>
        <p:spPr>
          <a:xfrm>
            <a:off x="502904" y="1251484"/>
            <a:ext cx="11186191" cy="527971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914377">
              <a:defRPr/>
            </a:pPr>
            <a:r>
              <a:rPr lang="de-DE" sz="1450" dirty="0">
                <a:latin typeface="Calibri"/>
                <a:cs typeface="Gautami"/>
              </a:rPr>
              <a:t>Project_Name  to comply with Accenture security standards as detailed on the </a:t>
            </a:r>
            <a:r>
              <a:rPr lang="de-DE" sz="1450" dirty="0">
                <a:latin typeface="Calibri"/>
                <a:cs typeface="Gautam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Protecting Accenture website</a:t>
            </a:r>
            <a:r>
              <a:rPr lang="de-DE" sz="1450" dirty="0">
                <a:latin typeface="Calibri"/>
                <a:cs typeface="Gautami"/>
              </a:rPr>
              <a:t> and the </a:t>
            </a:r>
            <a:r>
              <a:rPr lang="de-DE" sz="1450" dirty="0">
                <a:latin typeface="Calibri"/>
                <a:cs typeface="Gautam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Acenture Policies website</a:t>
            </a:r>
            <a:r>
              <a:rPr lang="de-DE" sz="1450" dirty="0">
                <a:latin typeface="Calibri"/>
                <a:cs typeface="Gautami"/>
              </a:rPr>
              <a:t>, some of which are shown below:</a:t>
            </a: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Policy 56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Security Standards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 Control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Identification and Authentication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Logging and Auditing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AD Security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Remote Access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Remote Console Access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Encryption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Classification and Protection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SSL VPN Standard 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Firewall Approved Services Matrix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Backup Security Standard 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Accenture Information Security Public Cloud Approved services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Accenture Public Cloud IaaS Security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Accenture Public Cloud PaaS and SaaS Security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r>
              <a:rPr lang="en-GB" sz="1467" dirty="0">
                <a:latin typeface="Calibri" panose="020F0502020204030204" pitchFamily="34" charset="0"/>
                <a:cs typeface="Gautami" panose="020B0502040204020203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 Cloud Security Configuration Standard</a:t>
            </a: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pPr marL="456565" indent="-456565">
              <a:buFont typeface="Wingdings" panose="05000000000000000000" pitchFamily="2" charset="2"/>
              <a:buChar char=""/>
            </a:pPr>
            <a:endParaRPr lang="en-GB" sz="1467" dirty="0">
              <a:latin typeface="Calibri" panose="020F0502020204030204" pitchFamily="34" charset="0"/>
              <a:cs typeface="Gautami" panose="020B0502040204020203" pitchFamily="34" charset="0"/>
            </a:endParaRPr>
          </a:p>
          <a:p>
            <a:endParaRPr lang="en-GB" sz="1467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22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4AD25-0552-4787-AF35-FB682C491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93753-17C0-456E-9C76-869FBCDFB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490025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21D1DA-822D-4FDC-8769-973FEF0F7EA9}"/>
              </a:ext>
            </a:extLst>
          </p:cNvPr>
          <p:cNvSpPr txBox="1">
            <a:spLocks/>
          </p:cNvSpPr>
          <p:nvPr/>
        </p:nvSpPr>
        <p:spPr>
          <a:xfrm>
            <a:off x="420753" y="476470"/>
            <a:ext cx="8713308" cy="498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Contacts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C05292A-374F-4E5C-BB05-1FA1299B1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09139"/>
              </p:ext>
            </p:extLst>
          </p:nvPr>
        </p:nvGraphicFramePr>
        <p:xfrm>
          <a:off x="1919224" y="1623067"/>
          <a:ext cx="8128000" cy="3783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7941">
                  <a:extLst>
                    <a:ext uri="{9D8B030D-6E8A-4147-A177-3AD203B41FA5}">
                      <a16:colId xmlns:a16="http://schemas.microsoft.com/office/drawing/2014/main" val="2816995051"/>
                    </a:ext>
                  </a:extLst>
                </a:gridCol>
                <a:gridCol w="5660059">
                  <a:extLst>
                    <a:ext uri="{9D8B030D-6E8A-4147-A177-3AD203B41FA5}">
                      <a16:colId xmlns:a16="http://schemas.microsoft.com/office/drawing/2014/main" val="2669913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 dirty="0">
                          <a:effectLst/>
                        </a:rPr>
                        <a:t>Workstream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u="none" strike="noStrike" dirty="0">
                          <a:effectLst/>
                        </a:rPr>
                        <a:t>Owner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425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PMI Lead/Assistant 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roman.pantin@accenture.com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35913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CRR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joefrey.c.pielago@accenture.com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37262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u="none" strike="noStrike" dirty="0">
                          <a:effectLst/>
                        </a:rPr>
                        <a:t>CSI</a:t>
                      </a:r>
                      <a:endParaRPr lang="en-US" altLang="ja-JP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/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ash.shukla@accenture.com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1425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Hosting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priyank.chatterjee@accenture.com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5951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shashidhar.pr@accenture.com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3451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syed.tariq@accenture.com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37940960"/>
                  </a:ext>
                </a:extLst>
              </a:tr>
              <a:tr h="4754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Applications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anita.gajapathy@accenture.com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9995758"/>
                  </a:ext>
                </a:extLst>
              </a:tr>
              <a:tr h="33834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anita.gajapathy@accenture.com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90128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CDP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pallavi.attavar@accenture.com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6281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59462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Starter-Pack_Graphik_Fixed-Accessibility_20220512.potx" id="{C14F5733-9612-42E6-BE71-9C8734CBFB83}" vid="{E485E983-2E79-40F3-833F-E74C94DAFD82}"/>
    </a:ext>
  </a:extLst>
</a:theme>
</file>

<file path=ppt/theme/theme2.xml><?xml version="1.0" encoding="utf-8"?>
<a:theme xmlns:a="http://schemas.openxmlformats.org/drawingml/2006/main" name="1_Accenture 202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2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Starter-Pack_Graphik_Fixed-Accessibility_20220512.potx" id="{C14F5733-9612-42E6-BE71-9C8734CBFB83}" vid="{E485E983-2E79-40F3-833F-E74C94DAFD8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68029C7FFEE348A52E128FE4A3B42E" ma:contentTypeVersion="33" ma:contentTypeDescription="Create a new document." ma:contentTypeScope="" ma:versionID="8b9468eaf75e9e8f085079534519350a">
  <xsd:schema xmlns:xsd="http://www.w3.org/2001/XMLSchema" xmlns:xs="http://www.w3.org/2001/XMLSchema" xmlns:p="http://schemas.microsoft.com/office/2006/metadata/properties" xmlns:ns2="8ce7e235-e590-46f4-9f30-6ab3f5f88075" xmlns:ns3="a68975f3-269e-493f-a9a3-4b78b9edbf8f" xmlns:ns4="3ffc1bea-9c48-46c3-be45-8a309ae0e9a9" targetNamespace="http://schemas.microsoft.com/office/2006/metadata/properties" ma:root="true" ma:fieldsID="e8711282c493dd2fd7a924608b86a68f" ns2:_="" ns3:_="" ns4:_="">
    <xsd:import namespace="8ce7e235-e590-46f4-9f30-6ab3f5f88075"/>
    <xsd:import namespace="a68975f3-269e-493f-a9a3-4b78b9edbf8f"/>
    <xsd:import namespace="3ffc1bea-9c48-46c3-be45-8a309ae0e9a9"/>
    <xsd:element name="properties">
      <xsd:complexType>
        <xsd:sequence>
          <xsd:element name="documentManagement">
            <xsd:complexType>
              <xsd:all>
                <xsd:element ref="ns2:Link" minOccurs="0"/>
                <xsd:element ref="ns2:Description0" minOccurs="0"/>
                <xsd:element ref="ns2:p" minOccurs="0"/>
                <xsd:element ref="ns2:PCN" minOccurs="0"/>
                <xsd:element ref="ns2:isD" minOccurs="0"/>
                <xsd:element ref="ns2:View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CompanyName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ReturnHome" minOccurs="0"/>
                <xsd:element ref="ns2:ReturnProjectSearch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Service" minOccurs="0"/>
                <xsd:element ref="ns2:IX_x0020_Company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e7e235-e590-46f4-9f30-6ab3f5f88075" elementFormDefault="qualified">
    <xsd:import namespace="http://schemas.microsoft.com/office/2006/documentManagement/types"/>
    <xsd:import namespace="http://schemas.microsoft.com/office/infopath/2007/PartnerControls"/>
    <xsd:element name="Link" ma:index="4" nillable="true" ma:displayName="Link" ma:format="Hyperlink" ma:internalName="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escription0" ma:index="5" nillable="true" ma:displayName="Description" ma:internalName="Description0" ma:readOnly="false">
      <xsd:simpleType>
        <xsd:restriction base="dms:Note">
          <xsd:maxLength value="255"/>
        </xsd:restriction>
      </xsd:simpleType>
    </xsd:element>
    <xsd:element name="p" ma:index="8" nillable="true" ma:displayName="p" ma:indexed="true" ma:internalName="p" ma:readOnly="false">
      <xsd:simpleType>
        <xsd:restriction base="dms:Text">
          <xsd:maxLength value="255"/>
        </xsd:restriction>
      </xsd:simpleType>
    </xsd:element>
    <xsd:element name="PCN" ma:index="9" nillable="true" ma:displayName="PCN" ma:internalName="PCN" ma:readOnly="false">
      <xsd:simpleType>
        <xsd:restriction base="dms:Text">
          <xsd:maxLength value="255"/>
        </xsd:restriction>
      </xsd:simpleType>
    </xsd:element>
    <xsd:element name="isD" ma:index="10" nillable="true" ma:displayName="isD" ma:internalName="isD" ma:readOnly="false">
      <xsd:simpleType>
        <xsd:restriction base="dms:Text">
          <xsd:maxLength value="255"/>
        </xsd:restriction>
      </xsd:simpleType>
    </xsd:element>
    <xsd:element name="View" ma:index="11" nillable="true" ma:displayName="View" ma:format="Dropdown" ma:indexed="true" ma:internalName="View" ma:readOnly="false">
      <xsd:simpleType>
        <xsd:union memberTypes="dms:Text">
          <xsd:simpleType>
            <xsd:restriction base="dms:Choice">
              <xsd:enumeration value="DD Folder"/>
            </xsd:restriction>
          </xsd:simpleType>
        </xsd:union>
      </xsd:simpleType>
    </xsd:element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CompanyName" ma:index="22" nillable="true" ma:displayName="CompanyName" ma:list="{80739c70-0f02-44a8-b6ed-1c7f5fbc9fa4}" ma:internalName="CompanyName" ma:showField="Title">
      <xsd:simpleType>
        <xsd:restriction base="dms:Lookup"/>
      </xsd:simpleType>
    </xsd:element>
    <xsd:element name="MediaServiceAutoTags" ma:index="23" nillable="true" ma:displayName="Tags" ma:internalName="MediaServiceAutoTags" ma:readOnly="true">
      <xsd:simpleType>
        <xsd:restriction base="dms:Text"/>
      </xsd:simpleType>
    </xsd:element>
    <xsd:element name="MediaServiceLocation" ma:index="24" nillable="true" ma:displayName="Location" ma:internalName="MediaServiceLocation" ma:readOnly="true">
      <xsd:simpleType>
        <xsd:restriction base="dms:Text"/>
      </xsd:simpleType>
    </xsd:element>
    <xsd:element name="MediaServiceGenerationTime" ma:index="2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ReturnHome" ma:index="28" nillable="true" ma:displayName="Return Home" ma:format="Hyperlink" ma:internalName="ReturnHom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ReturnProjectSearch" ma:index="29" nillable="true" ma:displayName="Return Project Search" ma:format="Hyperlink" ma:internalName="ReturnProjectSearch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31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33" nillable="true" ma:displayName="Sign-off status" ma:internalName="Sign_x002d_off_x0020_status">
      <xsd:simpleType>
        <xsd:restriction base="dms:Text"/>
      </xsd:simpleType>
    </xsd:element>
    <xsd:element name="Service" ma:index="34" nillable="true" ma:displayName="Service" ma:format="Dropdown" ma:indexed="true" ma:internalName="Service">
      <xsd:simpleType>
        <xsd:restriction base="dms:Choice">
          <xsd:enumeration value="Industry X"/>
          <xsd:enumeration value="Song"/>
          <xsd:enumeration value="Technology"/>
          <xsd:enumeration value="S&amp;C"/>
        </xsd:restriction>
      </xsd:simpleType>
    </xsd:element>
    <xsd:element name="IX_x0020_Company_x0020_Name" ma:index="35" nillable="true" ma:displayName="IX Company Name" ma:internalName="IX_x0020_Company_x0020_Nam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975f3-269e-493f-a9a3-4b78b9edbf8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fc1bea-9c48-46c3-be45-8a309ae0e9a9" elementFormDefault="qualified">
    <xsd:import namespace="http://schemas.microsoft.com/office/2006/documentManagement/types"/>
    <xsd:import namespace="http://schemas.microsoft.com/office/infopath/2007/PartnerControls"/>
    <xsd:element name="TaxCatchAll" ma:index="32" nillable="true" ma:displayName="Taxonomy Catch All Column" ma:hidden="true" ma:list="{6f5062e4-b687-466a-ae6e-fed22607357d}" ma:internalName="TaxCatchAll" ma:showField="CatchAllData" ma:web="3ffc1bea-9c48-46c3-be45-8a309ae0e9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turnHome xmlns="8ce7e235-e590-46f4-9f30-6ab3f5f88075">
      <Url xsi:nil="true"/>
      <Description xsi:nil="true"/>
    </ReturnHome>
    <View xmlns="8ce7e235-e590-46f4-9f30-6ab3f5f88075" xsi:nil="true"/>
    <Description0 xmlns="8ce7e235-e590-46f4-9f30-6ab3f5f88075" xsi:nil="true"/>
    <CompanyName xmlns="8ce7e235-e590-46f4-9f30-6ab3f5f88075" xsi:nil="true"/>
    <TaxCatchAll xmlns="3ffc1bea-9c48-46c3-be45-8a309ae0e9a9" xsi:nil="true"/>
    <Service xmlns="8ce7e235-e590-46f4-9f30-6ab3f5f88075" xsi:nil="true"/>
    <IX_x0020_Company_x0020_Name xmlns="8ce7e235-e590-46f4-9f30-6ab3f5f88075" xsi:nil="true"/>
    <Link xmlns="8ce7e235-e590-46f4-9f30-6ab3f5f88075">
      <Url xsi:nil="true"/>
      <Description xsi:nil="true"/>
    </Link>
    <PCN xmlns="8ce7e235-e590-46f4-9f30-6ab3f5f88075" xsi:nil="true"/>
    <_Flow_SignoffStatus xmlns="8ce7e235-e590-46f4-9f30-6ab3f5f88075" xsi:nil="true"/>
    <lcf76f155ced4ddcb4097134ff3c332f xmlns="8ce7e235-e590-46f4-9f30-6ab3f5f88075">
      <Terms xmlns="http://schemas.microsoft.com/office/infopath/2007/PartnerControls"/>
    </lcf76f155ced4ddcb4097134ff3c332f>
    <isD xmlns="8ce7e235-e590-46f4-9f30-6ab3f5f88075" xsi:nil="true"/>
    <ReturnProjectSearch xmlns="8ce7e235-e590-46f4-9f30-6ab3f5f88075">
      <Url xsi:nil="true"/>
      <Description xsi:nil="true"/>
    </ReturnProjectSearch>
    <p xmlns="8ce7e235-e590-46f4-9f30-6ab3f5f88075" xsi:nil="true"/>
  </documentManagement>
</p:properties>
</file>

<file path=customXml/itemProps1.xml><?xml version="1.0" encoding="utf-8"?>
<ds:datastoreItem xmlns:ds="http://schemas.openxmlformats.org/officeDocument/2006/customXml" ds:itemID="{DD594535-900B-497D-9256-6DFD52972A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D0A5D2-87D6-433A-AFEA-861A1C910F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e7e235-e590-46f4-9f30-6ab3f5f88075"/>
    <ds:schemaRef ds:uri="a68975f3-269e-493f-a9a3-4b78b9edbf8f"/>
    <ds:schemaRef ds:uri="3ffc1bea-9c48-46c3-be45-8a309ae0e9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7D2819-7CB2-4A9E-99CA-434EB0A47706}">
  <ds:schemaRefs>
    <ds:schemaRef ds:uri="http://purl.org/dc/elements/1.1/"/>
    <ds:schemaRef ds:uri="a68975f3-269e-493f-a9a3-4b78b9edbf8f"/>
    <ds:schemaRef ds:uri="3ffc1bea-9c48-46c3-be45-8a309ae0e9a9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8ce7e235-e590-46f4-9f30-6ab3f5f8807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17034</TotalTime>
  <Words>1996</Words>
  <Application>Microsoft Office PowerPoint</Application>
  <PresentationFormat>Widescreen</PresentationFormat>
  <Paragraphs>382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GT Sectra Fine Rg</vt:lpstr>
      <vt:lpstr>Arial</vt:lpstr>
      <vt:lpstr>Calibri</vt:lpstr>
      <vt:lpstr>Graphik</vt:lpstr>
      <vt:lpstr>Graphik Black</vt:lpstr>
      <vt:lpstr>Graphik Semibold</vt:lpstr>
      <vt:lpstr>Times New Roman</vt:lpstr>
      <vt:lpstr>Wingdings</vt:lpstr>
      <vt:lpstr>Accenture 2022</vt:lpstr>
      <vt:lpstr>1_Accenture 2022</vt:lpstr>
      <vt:lpstr>DataStories</vt:lpstr>
      <vt:lpstr>Contents</vt:lpstr>
      <vt:lpstr>PowerPoint Presentation</vt:lpstr>
      <vt:lpstr>Hosting Integration Overview</vt:lpstr>
      <vt:lpstr>Hosting Integration Process &amp; Timelines</vt:lpstr>
      <vt:lpstr>PowerPoint Presentation</vt:lpstr>
      <vt:lpstr>Hosting – High Level Migration Plan </vt:lpstr>
      <vt:lpstr>PowerPoint Presentation</vt:lpstr>
      <vt:lpstr>Existing Hosting - Overview</vt:lpstr>
      <vt:lpstr>Hosting – High Level Integration Plan </vt:lpstr>
      <vt:lpstr>Reference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Inventory and Assessment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George, Aji</dc:creator>
  <cp:lastModifiedBy>Chatterjee, Priyank</cp:lastModifiedBy>
  <cp:revision>6</cp:revision>
  <dcterms:created xsi:type="dcterms:W3CDTF">2022-10-24T13:28:10Z</dcterms:created>
  <dcterms:modified xsi:type="dcterms:W3CDTF">2025-05-27T08:08:00Z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0x010100DA68029C7FFEE348A52E128FE4A3B42E</vt:lpwstr>
  </property>
</Properties>
</file>