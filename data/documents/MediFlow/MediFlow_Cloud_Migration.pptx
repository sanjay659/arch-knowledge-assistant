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MediFlow Healthcare</a:t>
            </a:r>
            <a:br/>
            <a:r>
              <a:t>Cloud Migration Blueprint</a:t>
            </a:r>
          </a:p>
          <a:p>
            <a:pPr algn="l">
              <a:defRPr sz="1600">
                <a:solidFill>
                  <a:srgbClr val="96A0AF"/>
                </a:solidFill>
              </a:defRPr>
            </a:pPr>
            <a:r>
              <a:t>On-Premises to AWS — Healthcare Platform Modernization</a:t>
            </a:r>
          </a:p>
          <a:p>
            <a:pPr algn="l">
              <a:spcBef>
                <a:spcPts val="2000"/>
              </a:spcBef>
              <a:defRPr sz="1200">
                <a:solidFill>
                  <a:srgbClr val="788291"/>
                </a:solidFill>
              </a:defRPr>
            </a:pPr>
            <a:r>
              <a:t>Date: 10-Apr-2025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E82"/>
                </a:solidFill>
              </a:defRPr>
            </a:pPr>
            <a:r>
              <a:t>Primary: Dr. Anita Sharma, Vikram Desai</a:t>
            </a:r>
          </a:p>
          <a:p>
            <a:pPr>
              <a:defRPr sz="1100">
                <a:solidFill>
                  <a:srgbClr val="646E82"/>
                </a:solidFill>
              </a:defRPr>
            </a:pPr>
            <a:r>
              <a:t>QA: Meena Iyer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3C3C"/>
                </a:solidFill>
              </a:defRPr>
            </a:pPr>
            <a:r>
              <a:t>HIGHLY CONFIDENTIAL - FOR COMPANY INTERNAL USE BY AUTHORIZED PERSONNEL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58A6FF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7724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01 — Executive Summary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02 — Current On-Premises Architecture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03 — Proposed AWS Architecture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04 — Migration Strategy (Lift &amp; Shift + Refactor)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05 — Integration Points (HL7/FHIR)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06 — Security &amp; Compliance (HIPAA)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07 — Budget &amp; Cost Estimates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08 — Timeline &amp; Milestones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09 — Risk &amp; Dependencies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10 — Operations Support Matrix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11 — Success Criteria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12 — Contacts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MediFlow Healthcare operates a patient management and clinical data platform serving 45 hospitals and 3,000+ clinics across North America.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platform currently runs on-premises in two co-located data centers (Dallas, TX and Toronto, CA).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Key Highlights: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Total infrastructure: 120+ physical and virtual servers across both data centers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Primary workloads: Electronic Health Records (EHR), Patient Portal, Lab Integration, PACS Integration, Billing Engine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Current data center lease expires in 18 months — migration is time-critical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Total data volume: 85TB (including 60TB of medical imaging data in PACS)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Compliance: HIPAA, SOC2 Type II, HITRUST certified — must maintain throughout migration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Migration Approach: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Phase 1: Lift &amp; Shift non-critical workloads to AWS EC2 (quick wins)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Phase 2: Refactor core EHR and Patient Portal to containerized architecture on EKS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Phase 3: Migrate PACS imaging data to S3 with Glacier archival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Business Drivers: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Data center lease cost: $42,000/month — AWS target: $28,000/month (33% savings)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Scalability: Handle 3x patient volume growth without infrastructure procurement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Disaster recovery: Current DR is manual — AWS provides automated multi-AZ 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Current On-Premises Architecture — Existing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Data Center 1 — Dallas, TX (Primary):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4 Dell PowerEdge R740 servers running VMware vSphere 7.0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28 VMs: EHR application (8 VMs), Patient Portal (4 VMs), Lab Integration (4 VMs), Billing (6 VMs), Utility/DevOps (6 VMs)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Storage: NetApp FAS8200 SAN (40TB usable, FC 16Gbps)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Database: Microsoft SQL Server 2019 Enterprise Always On (3-node cluster)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Network: Cisco Nexus 9000 switches, Palo Alto PA-5260 firewall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Load Balancer: F5 BIG-IP LTM for application traffic distribution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Data Center 2 — Toronto, CA (DR + Canadian data residency):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2 Dell PowerEdge R740 servers running VMware vSphere 7.0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14 VMs: DR replicas of critical workloads + Canadian patient data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Storage: NetApp FAS2720 (15TB usable)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Database: SQL Server 2019 Standard (Async replica from Dallas)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Replication: Veeam Backup &amp; Replication for VM-level DR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PACS Medical Imaging: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Dedicated PACS server cluster (3 servers, 60TB NAS storage)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DICOM protocol for imaging data exchange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Average 5,000 new imaging studies per day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Retention requirement: 7 years minimum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Network &amp; Connectivity: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MPLS WAN connecting 45 hospital sites to Dallas DC (100Mbps per site)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SSL VPN for clinic access (Palo Alto GlobalProtect)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Internet DMZ for Patient Portal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Proposed AWS Architecture — Target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proposed AWS architecture modernizes the platform while maintaining HIPAA compliance: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Compute Layer: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Amazon EKS (Kubernetes) for containerized EHR and Patient Portal (Phase 2 refactored apps)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Amazon EC2 (m5.2xlarge) for Lift &amp; Shift workloads in Phase 1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Auto Scaling Groups for Patient Portal (handles 10x traffic spikes during flu season)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Data Layer: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Amazon RDS for SQL Server (Multi-AZ) replacing on-prem SQL Server cluster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Amazon S3 for PACS medical imaging storage (S3 Standard + S3 Glacier for archival)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Amazon DynamoDB for session management and patient preferences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Amazon ElastiCache (Redis) for application caching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Integration Layer: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Amazon MQ (ActiveMQ) for HL7v2 message routing between hospital systems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API Gateway for FHIR R4 API endpoints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Lambda for HL7-to-FHIR message transformation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Amazon EventBridge for event-driven lab result processing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Security &amp; Compliance: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GovCloud considered but decided: Commercial AWS with BAA (Business Associate Agreement)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KMS for encryption at rest (AES-256) for all patient data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CloudTrail + Config for HIPAA audit logging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WAF + Shield for Patient Portal DDoS protection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Macie for PHI (Protected Health Information) detection in S3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DR &amp; High Availability: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Multi-AZ deployment in us-east-1 (primary) and ca-central-1 (Canadian data)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RTO: 15 minutes (down from current 4 hours)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RPO: 5 minutes (down from current 1 hour)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Backup for automated backup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Migration Strategy — Lift &amp; Shift + 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Phase 1: Lift &amp; Shift (Weeks 1-8) — Quick Wins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Migrate 28 VMs from Dallas DC to EC2 using AWS MGN (Application Migration Service)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Replicate Dallas VMs to EC2 with continuous block-level replication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Cutover non-critical workloads first: DevOps, utility servers, staging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Migrate Billing Engine VMs (6) — no code changes needed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Estimated effort: 6 weeks migration + 2 weeks UAT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Phase 2: Refactor Core Apps (Weeks 9-20) — Modernization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Containerize EHR application using Docker + Kubernetes (EKS)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Decompose monolithic EHR into 8 microservices: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Patient Registration Service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Clinical Documentation Service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Order Entry Service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Results Management Service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Medication Management Service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Scheduling Service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Reporting &amp; Analytics Service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Audit &amp; Compliance Service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Refactor Patient Portal from .NET Framework 4.8 to .NET 8 (containerized)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Deploy on EKS with Istio service mesh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Phase 3: PACS &amp; Data Migration (Weeks 16-24) — Heavy Data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Migrate 60TB PACS imaging data to S3 using AWS Snowball Edge (2 devices)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Estimated transfer time: 10 days per Snowball device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Configure S3 lifecycle policies: Standard → Intelligent-Tiering → Glacier (after 2 years)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Validate DICOM metadata integrity for all migrated studies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Phase 4: DR &amp; Decommission (Weeks 20-26)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Set up cross-region replication to ca-central-1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Validate DR failover with full DR drill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Decommission Toronto DC resources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Return Dallas DC hardware (lease termination)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Integration Points — HL7 &amp; FHIR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MediFlow integrates with 45 hospitals and 3,000+ clinics using healthcare interoperability standards: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HL7v2 Integrations (Legacy — maintained for backward compatibility):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ADT (Admit/Discharge/Transfer) messages from hospital HIS systems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ORM/ORU messages for lab order/result processing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DFT messages for billing charge capture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Average HL7 message volume: 120,000 messages/day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Current integration engine: Mirth Connect (on-prem VM)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Target: Migrate Mirth Connect to EC2 + Amazon MQ for message queuing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FHIR R4 Integrations (Modern — growing adoption):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Patient resource queries from Epic and Cerner EHR systems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CDS Hooks for clinical decision support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SMART on FHIR apps for third-party clinical tools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FHIR API endpoint: https://api.mediflow.health/fhir/r4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Target: AWS API Gateway + Lambda for FHIR endpoint management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PACS/DICOM Integration: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DICOM DIMSE protocol for imaging exchange with hospital PACS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DICOMweb (WADO-RS, STOW-RS) for modern imaging access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Target: AWS HealthImaging service for DICOM storage and retrieval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External Integrations: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Surescripts for e-prescribing (RxNorm coded medications)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Availity for insurance eligibility verification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Quest Diagnostics and LabCorp for reference lab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Security &amp; Compliance —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HIPAA compliance is non-negotiable — all architecture decisions must maintain compliance: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Encryption: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At rest: AES-256 encryption via AWS KMS for all storage (RDS, S3, EBS, DynamoDB)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In transit: TLS 1.3 for all API communications; mutual TLS for hospital integrations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Key rotation: Automatic annual rotation via AWS KMS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Access Control: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IAM with least-privilege policies for all service accounts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Role-based access control (RBAC) with custom IAM roles per team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MFA mandatory for all AWS console and VPN access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SSO integrated with corporate Active Directory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Audit &amp; Monitoring: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CloudTrail logging all API calls (retained for 7 years in S3 Glacier)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Config rules for continuous HIPAA compliance monitoring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Amazon GuardDuty for threat detection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Macie for automated PHI discovery in S3 buckets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HIPAA audit reports generated monthly via AWS Audit Manager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BAA &amp; Certifications: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Business Associate Agreement (BAA) signed and active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services in use are all BAA-eligible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HITRUST CSF certification renewal planned for Q4 2025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SOC2 Type II annual audit scheduled for Q3 2025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Incident Response: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PHI breach notification within 60 minutes of detection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Security Hub for centralized security findings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Automated quarantine via Lambda + Security Hub for compromised resources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Budget &amp; Cost Estimates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686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Cost Category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One-Time (USD)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Monthly (USD)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EC2 Compute (Phase 1 L&amp;S)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$8,500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m5.2xlarge instances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EKS Cluster (Phase 2)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$6,200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3 node groups, auto-scaling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RDS SQL Server Multi-AZ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$4,800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db.r5.2xlarge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S3 Storage (PACS + General)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$2,100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60TB Standard + Glacier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Networking (VPN, DirectConnect)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$2,400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1Gbps DirectConnect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Security Tools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$1,200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GuardDuty, Macie, WAF, Shield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AWS Snowball Edge (2 devices)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$3,200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PACS data migration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Migration Tooling (AWS MGN)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VM migration service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Professional Services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$45,000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Migration + refactoring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AWS training for MediFlow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Contingency (20%)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$11,540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$5,040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Higher buffer for healthcare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$69,240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$30,240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Savings: ~$12,000/month vs on-prem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Timeline &amp;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Deliverable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Assessment &amp; Planning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1-3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Inventory complete, migration wave plan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Vikram Desai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Phase 1: Lift &amp; Shift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4-11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28 VMs migrated to EC2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Migration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Phase 2: Refactor EHR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9-20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8 EHR microservices on EKS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Dev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Phase 2: Refactor Portal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12-18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Patient Portal on EKS (.NET 8)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Dev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Phase 3: PACS Migration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16-24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60TB imaging data in S3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Data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Phase 4: DR Setup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20-24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Cross-region DR active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Cloud Ops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Phase 4: UAT &amp; Compliance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22-25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HIPAA audit, UAT sign-off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QA + Security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Phase 4: Decommission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Weeks 25-26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DC hardware returned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Infra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Risk and Dependencies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HIPAA violation during migration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Encryption-in-transit + audit logging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PACS data corruption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Checksum validation + parallel access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HL7 integration downtime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Staged cutover with message queuing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SQL Server compatibility issues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Pre-migration compatibility check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Data center lease expires early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Parallel run for 3 months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.NET Framework 4.8 migration issues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Incremental refactoring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Hospital partner VPN reconfiguration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Pre-migration VPN testing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Staff unfamiliar with AWS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AWS training program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Operations Support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 Area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AWS Infrastructure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Cloud Ops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99.95% uptime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EHR Application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MediFlow Dev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99.9% uptime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Database (SQL Server)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DBA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99.99% uptime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HL7/FHIR Integrations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Integration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99.9% uptime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PACS Imaging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Imaging Ops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99.9% uptime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Security &amp; Compliance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InfoSec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Patient Portal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Portal Dev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99.95% uptime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Business Hours + On-call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Billing Engine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Billing Ops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99.9% uptime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Business Hours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migration will be deemed successful when MediFlow confirms: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1. All 120+ servers are migrated or decommissioned per the disposition plan.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2. EHR application serves all 45 hospitals from AWS with &lt;200ms response time.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3. Patient Portal handles 50,000 concurrent sessions during peak hours.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4. HL7 message processing handles 120,000+ messages/day with zero message loss.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5. FHIR API responds within 100ms for 95% of requests.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6. 60TB PACS data is fully migrated with 100% DICOM metadata integrity.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7. HIPAA compliance maintained — verified by external auditor.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8. DR failover tested successfully with RTO &lt; 15 minutes.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9. Canadian patient data resides exclusively in ca-central-1.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10. Monthly AWS cost does not exceed $30,240 (+ contingency buffer).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11. All hospital partner VPN connections are active and tested.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12. SOC2 Type II audit passes without material findings.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Contacts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PMI Lead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Dr. Anita Sharma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anita.sharma@company.com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Technical Architect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Vikram Desai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vikram.d@company.com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QA Lead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Meena Iyer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meena.i@company.com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MediFlow CTO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Dr. James Wilson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j.wilson@mediflow.health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MediFlow IT Director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Robert Martinez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r.martinez@mediflow.health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InfoSec Lead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Lisa Chen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lisa.chen@company.com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Thakur, Sanjay</dc:creator>
  <keywords/>
  <dc:description>generated using python-pptx</dc:description>
  <lastModifiedBy>Thakur, Sanjay</lastModifiedBy>
  <revision>1</revision>
  <dcterms:created xsi:type="dcterms:W3CDTF">2026-06-02T06:14:39.7816339Z</dcterms:created>
  <dcterms:modified xsi:type="dcterms:W3CDTF">2026-06-02T06:14:39.7816339Z</dcterms:modified>
  <category/>
</coreProperties>
</file>