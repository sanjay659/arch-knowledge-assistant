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TechNova Solutions</a:t>
            </a:r>
            <a:br/>
            <a:r>
              <a:t>Hosting Integration Blueprint</a:t>
            </a:r>
          </a:p>
          <a:p>
            <a:pPr algn="l">
              <a:defRPr sz="1600">
                <a:solidFill>
                  <a:srgbClr val="96A0AF"/>
                </a:solidFill>
              </a:defRPr>
            </a:pPr>
            <a:r>
              <a:t>AWS to Azure Migration — Enterprise SaaS Platform</a:t>
            </a:r>
          </a:p>
          <a:p>
            <a:pPr algn="l">
              <a:spcBef>
                <a:spcPts val="2000"/>
              </a:spcBef>
              <a:defRPr sz="1200">
                <a:solidFill>
                  <a:srgbClr val="788291"/>
                </a:solidFill>
              </a:defRPr>
            </a:pPr>
            <a:r>
              <a:t>Date: 15-May-2025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E82"/>
                </a:solidFill>
              </a:defRPr>
            </a:pPr>
            <a:r>
              <a:t>Primary: Rajesh Kumar, Priya Malhotra</a:t>
            </a:r>
          </a:p>
          <a:p>
            <a:pPr>
              <a:defRPr sz="1100">
                <a:solidFill>
                  <a:srgbClr val="646E82"/>
                </a:solidFill>
              </a:defRPr>
            </a:pPr>
            <a:r>
              <a:t>QA: Suresh Nair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C83C3C"/>
                </a:solidFill>
              </a:defRPr>
            </a:pPr>
            <a:r>
              <a:t>HIGHLY CONFIDENTIAL - FOR COMPANY INTERNAL USE BY AUTHORIZED PERSONNEL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58A6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772400" cy="254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01 — Executive Summary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02 — Current Architecture Overview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03 — Hosting Integration Process &amp; Timelines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04 — Migration Milestones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05 — High Level Migration Plan (AWS → Azure)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06 — Existing Hosting Overview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07 — Inventory and Assessment Summary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08 — Target Reference Architecture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09 — Budget &amp; Cost Estimates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10 — Website Migration Plan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11 — Key Assumptions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12 — Risk and Dependencies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13 — Success Criteria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14 — Operations Support Matrix</a:t>
            </a:r>
          </a:p>
          <a:p>
            <a:pPr>
              <a:spcBef>
                <a:spcPts val="600"/>
              </a:spcBef>
              <a:defRPr sz="1300">
                <a:solidFill>
                  <a:srgbClr val="DCE1EB"/>
                </a:solidFill>
              </a:defRPr>
            </a:pPr>
            <a:r>
              <a:t>15 — Contacts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TechNova Solutions operates a multi-tenant SaaS analytics platform serving 200+ enterprise customers globally.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platform is currently hosted on AWS (us-east-1 and eu-west-1 regions) across 3 AWS accounts.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Post-acquisition, TechNova's hosting infrastructure must be integrated into the parent company's Azure-based GMCS platform.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Key Highlights: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Total of 47 servers across production, staging, and development environments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Primary workloads: Real-time analytics engine, data ingestion pipeline, customer portal, and API gateway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Current monthly hosting cost: $18,500/month on AWS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Target: Migrate to Azure within 16 weeks with zero downtime for production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Migration approach: Phased migration — non-prod first, then production cutover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Critical Dependencies: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TechNova uses AWS-native services (SQS, Lambda, DynamoDB) that need Azure equivalents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3 third-party integrations (Twilio, Stripe, Salesforce) must be re-validated post-migration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SOC2 compliance must be maintained throughout migration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 residency requirements: EU customer data must remain in EU region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Current Architecture Overview — Existing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TechNova's current architecture follows a microservices pattern on AWS: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Frontend Layer: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React-based SPA hosted on CloudFront + S3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Custom domain: app.technova.io with AWS Certificate Manager SSL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Average 15,000 concurrent users during peak hours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API Layer: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API Gateway with rate limiting and API key management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12 microservices running on ECS Fargate (containerized)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Service mesh using AWS App Mesh for inter-service communication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Average API response time: 120ms (P95: 280ms)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Data Layer: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Primary database: Amazon Aurora PostgreSQL (Multi-AZ, db.r5.2xlarge)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Cache: ElastiCache Redis cluster (3 nodes, cache.r5.large)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Search: OpenSearch cluster (3 nodes) for full-text search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Object storage: S3 buckets (12TB total) for raw data and reports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Event Processing: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SQS for async task queuing (average 50,000 messages/hour)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Lambda functions (23 functions) for event-driven processing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Kinesis Data Streams for real-time analytics ingestion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Monitoring &amp; Logging: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CloudWatch for metrics and alarms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ELK stack on EC2 for centralized logging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PagerDuty integration for alerting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Hosting Integration Process &amp; Timelines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1: Inventory &amp; Assessment (Weeks 1-2)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Complete compute and storage inventory across all 3 AWS accounts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Decide on disposition of each VM, service, and storage resource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Apply SOC tools and remediate open vulnerabilities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Document all AWS-native service dependencies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2: Blueprint &amp; Planning (Weeks 3-4)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Finalize hosting integration blueprint with Azure equivalents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Blueprint details retention, decommissioning, and data migration plan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Map AWS services to Azure equivalents: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ECS Fargate → Azure Container Apps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Aurora PostgreSQL → Azure Database for PostgreSQL Flexible Server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ElastiCache Redis → Azure Cache for Redis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SQS → Azure Service Bus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Lambda → Azure Functions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Kinesis → Azure Event Hubs</a:t>
            </a:r>
          </a:p>
          <a:p>
            <a:pPr lvl="2">
              <a:spcBef>
                <a:spcPts val="400"/>
              </a:spcBef>
              <a:defRPr sz="1000">
                <a:solidFill>
                  <a:srgbClr val="A0AAB9"/>
                </a:solidFill>
              </a:defRPr>
            </a:pPr>
            <a:r>
              <a:t>S3 → Azure Blob Storage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3: Build &amp; Configure (Weeks 5-10)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Provision Azure landing zone per company standards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Build destination infrastructure using Terraform IaC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Configure networking, VPN peering, and firewall rules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Set up Azure DevOps pipelines for CI/CD migration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4: Migration &amp; Validation (Weeks 11-14)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 non-production environments first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Database migration using Azure Database Migration Service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Container image migration to Azure Container Registry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UAT and performance testing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Phase 5: Production Cutover &amp; Stabilization (Weeks 15-16)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Production cutover with DNS switchover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48-hour hypercare support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Decommission legacy AWS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Hosting Integration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Date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Inventory Complete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Rajesh Kumar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Blueprint Approved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Priya Malhotra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Landing Zone Ready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6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Ops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Non-Prod Migration Complete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10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Migration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Database Migration Complete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12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DBA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UAT Sign-off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13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QA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Production Cutover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15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All Teams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Legacy AWS Decommission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16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Ops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SOC Compliance Verified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Week 16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Not Started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High Level Migration Plan — AWS to Azure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TechNova has 3 AWS accounts that need to be integrated: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Account 1: Production (Account ID: 556008695729)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18 ECS services, Aurora PostgreSQL cluster, ElastiCache, OpenSearch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This is the primary workload — migrates last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Zero-downtime requirement using blue-green deployment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Account 2: Staging/QA (Account ID: 669412377329)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Mirror of production at 50% scale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Used for QA and pre-production validation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Migrates first as pilot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Account 3: Development (Account ID: 112233445566)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Developer workstations and CI/CD pipelines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Jenkins servers, SonarQube, Artifactory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Migrates to Azure DevOps + GitHub Actions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Migration Approach: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Containerized services: Re-deploy on Azure Container Apps (minimal changes)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Databases: Use Azure DMS for online migration with minimal downtime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Storage: Use AzCopy for S3 → Blob Storage migration (12TB, ~48 hours)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DNS: Use Traffic Manager for gradual traffic switchover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Rollback plan: Keep AWS resources active for 2 weeks post-cutover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Existing Hosting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Internet Traffic Flow: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Users → CloudFront CDN → API Gateway → ECS Fargate Services → Aurora DB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Public Endpoints: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https://app.technova.io (Main SaaS application)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https://api.technova.io (REST API for integrations)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https://docs.technova.io (Documentation portal — hosted on Netlify, out of scope)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Internal Services: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Analytics engine: Real-time data processing using Kinesis + Lambda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Report generator: Batch processing using Step Functions + Lambda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Notification service: SQS + Lambda + Twilio integration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Authentication: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AWS Cognito for customer authentication (OAuth2 + SAML)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15,000+ registered users across 200+ tenant organizations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MFA enabled for all admin accounts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Remote Access: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TechNova developers access via AWS SSM Session Manager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VPN: AWS Client VPN for database access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IP filtering enabled for admin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Inventory and Assessment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8686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Specs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Cost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Disposition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ECS Services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Fargate 1vCPU/2GB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$4,200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Container Apps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Aurora PostgreSQL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 cluster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db.r5.2xlarge Multi-AZ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$3,800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PostgreSQL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ElastiCache Redis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3 nodes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cache.r5.large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Cache Redis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OpenSearch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3 nodes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r5.large.search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AI Search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S3 Buckets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12TB total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$280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Blob Storage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Lambda Functions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$450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Functions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SQS Queues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Standard queues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$85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Service Bus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REST + WebSocket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$350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API Management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CloudFront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 distributions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Global CDN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$520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Front Door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EC2 (ELK Stack)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m5.xlarge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$1,100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Migrate to Azure Monitor + Log Analytics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NAT Gateway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Multi-AZ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$320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NAT Gateway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Secrets Manager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45 secrets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$15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Key Vault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Target Reference Architecture — Proposed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proposed Azure architecture maintains the same microservices pattern with Azure-native services: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Frontend Layer (Proposed):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Front Door (Global CDN + WAF) replacing CloudFront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Static assets in Azure Blob Storage with CDN endpoint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Custom domain: app.technova.io with Azure-managed SSL certificates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API Layer (Proposed):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API Management (APIM) replacing AWS API Gateway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18 microservices on Azure Container Apps (serverless containers)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Dapr sidecar for service-to-service communication replacing App Mesh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Expected API response time: &lt;100ms (P95: &lt;250ms) — improvement over current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Data Layer (Proposed):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Database for PostgreSQL Flexible Server (Zone-redundant HA)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Cache for Redis (Premium tier, 3 nodes)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AI Search replacing OpenSearch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Blob Storage (Hot tier for active data, Cool tier for archives)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Event Processing (Proposed):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Service Bus replacing SQS for reliable messaging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Functions replacing Lambda for event-driven compute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Event Hubs replacing Kinesis for real-time streaming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Security &amp; Compliance (Proposed):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Entra ID replacing Cognito (with SAML/OAuth2 federation)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Key Vault for secrets management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Policy for governance enforcement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Microsoft Defender for Cloud for security monitoring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Monitoring (Proposed):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Monitor + Application Insights replacing CloudWatch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Log Analytics replacing ELK stack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Azure Alerts + PagerDuty integration maintained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Hosting IT Integration Budget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Cost Category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One-Time Cost (USD)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Monthly Recurring (USD)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Infrastructure (Compute)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$5,200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Container Apps + Functions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Database Services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$4,100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PostgreSQL + Redis + AI Search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Networking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$1,200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Front Door + APIM + VPN + NAT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Storage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$350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Blob Storage (Hot + Cool)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Monitoring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$800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Monitor + Log Analytics + Insights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Migration Tooling (DMS, AzCopy)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$2,500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One-time migration tools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Professional Services (PMI team)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$15,000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Migration execution support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Training &amp; Knowledge Transfer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training for TechNova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Contingency (15%)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$3,075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$1,747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Buffer for unexpected costs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$23,575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$13,397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Net savings: ~$5,100/month vs AWS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Website Migration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Primary Application: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https://app.technova.io — Migrated to Azure Container Apps + Front Door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DNS CNAME update from CloudFront to Azure Front Door endpoint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SSL certificate provisioned via Azure Front Door managed certificates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API Endpoint: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https://api.technova.io — Migrated to Azure API Management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Existing API keys and rate limits replicated in APIM policies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Backward compatibility maintained for all v2 and v3 API versions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Documentation Portal: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https://docs.technova.io — Currently hosted on Netlify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OUT OF SCOPE for this migration — remains on Netlify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Marketing Landing Pages: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https://try.technova.io — Hosted on Unbounce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Decision: DECOMMISSION — marketing team will use company CMS instead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DNS Migration Plan: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Step 1: Add Azure Front Door CNAME alongside existing CloudFront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Step 2: Use Traffic Manager for weighted routing (10% Azure → 50% → 100%)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Step 3: Remove CloudFront distribution after 48 hours of full Azure traffic</a:t>
            </a:r>
          </a:p>
          <a:p>
            <a:pPr lvl="1">
              <a:spcBef>
                <a:spcPts val="400"/>
              </a:spcBef>
              <a:defRPr sz="1100">
                <a:solidFill>
                  <a:srgbClr val="B4BECD"/>
                </a:solidFill>
              </a:defRPr>
            </a:pPr>
            <a:r>
              <a:t>Step 4: Update DNS TTL to 300 seconds before cutover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Key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1. TechNova development team will be available for application-level changes and testing during migration.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2. All containerized services are stateless and can be redeployed without data loss.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3. Database schema is compatible with Azure PostgreSQL Flexible Server without major modifications.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4. Third-party integrations (Twilio, Stripe, Salesforce) do not require IP whitelisting changes.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5. SOC2 compliance evidence can be transferred to Azure Security Center / Defender for Cloud.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6. EU data residency is maintained by deploying EU workloads in Azure West Europe region.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7. Current CI/CD pipelines (Jenkins) will be migrated to Azure DevOps or GitHub Actions.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8. TechNova's existing monitoring dashboards can be recreated in Azure Monitor within 1 week.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9. No application code changes are needed for the migration — only infrastructure and configuration changes.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10. Budget approval for Azure infrastructure costs ($13,397/month) is obtained before Phase 3.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11. Legacy AWS accounts will be retained for 30 days post-migration for rollback purposes.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Risk and Dependencies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Risk/Dependency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Database migration data loss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Pre-migration backup + DMS validation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Downtime during DNS cutover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Traffic Manager weighted routing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AWS-native service incompatibility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Map all services in blueprint phase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Performance degradation post-migration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Load testing before cutover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Third-party integration failures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Pre-migration API testing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Budget overrun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15% contingency included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Team availability during migration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Dedicated migration window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SOC2 compliance gap during transition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Parallel compliance monitoring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Hosting Integration Execution Success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The project will be deemed successful when TechNova confirms completion of: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1. All 18 microservices are running on Azure Container Apps and serving production traffic.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2. Aurora PostgreSQL data is fully migrated to Azure PostgreSQL with zero data loss verified.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3. All public endpoints (app.technova.io, api.technova.io) resolve to Azure infrastructure.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4. API response times are within 10% of pre-migration baseline (P95 &lt; 280ms).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5. Real-time analytics pipeline processes 50,000+ events/hour on Azure Event Hubs.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6. Authentication (Azure Entra ID) works for all 15,000+ users without password resets.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7. SOC2 compliance evidence is active in Microsoft Defender for Cloud.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8. Azure Monitor dashboards replicate all existing CloudWatch alarms and alerts.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9. Remote access via Azure VPN is tested and working for all developers.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10. Legacy AWS accounts are decommissioned (or scheduled for decommission within 30 days).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11. UAT sign-off from TechNova product team and QA team.</a:t>
            </a:r>
          </a:p>
          <a:p>
            <a:pPr>
              <a:spcBef>
                <a:spcPts val="400"/>
              </a:spcBef>
              <a:defRPr sz="1200">
                <a:solidFill>
                  <a:srgbClr val="D2D7E1"/>
                </a:solidFill>
              </a:defRPr>
            </a:pPr>
            <a:r>
              <a:t>12. Operations RACI agreed and signed by all stakeholders.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Operations Support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Service Area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Responsible Team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Support Level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Escalation Path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Azure Infrastructure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Ops (Parent Co.)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L2 → Cloud Architect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Application Support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TechNova Dev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Business Hours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Dev Lead → CTO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Database Administration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DBA Team (Parent Co.)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DBA → Architect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Security &amp; Compliance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InfoSec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SOC → CISO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Networking &amp; Connectivity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Network Ops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24x7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Network Engineer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CI/CD Pipelines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DevOps Team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Business Hours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DevOps Lead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Third-party Integrations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TechNova Dev Team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Business Hours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L1 → Integration Lead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8A6FF"/>
                </a:solidFill>
              </a:defRPr>
            </a:pPr>
            <a:r>
              <a:t>Contacts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Phone</a:t>
                      </a:r>
                    </a:p>
                  </a:txBody>
                  <a:tcPr>
                    <a:solidFill>
                      <a:srgbClr val="1E50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PMI Lead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Rajesh Kumar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rajesh.kumar@company.com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+91-98765-43210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Technical Architect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Priya Malhotra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priya.m@company.com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+91-98765-43211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QA Lead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Suresh Nair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suresh.n@company.com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+91-98765-43212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Cloud Ops Lead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Amit Verma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amit.v@company.com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+91-98765-43213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TechNova CTO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David Chen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david.chen@technova.io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+1-415-555-0101</a:t>
                      </a:r>
                    </a:p>
                  </a:txBody>
                  <a:tcPr>
                    <a:solidFill>
                      <a:srgbClr val="191E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TechNova Dev Lead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Sarah Johnson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sarah.j@technova.io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C8D2DC"/>
                          </a:solidFill>
                        </a:defRPr>
                      </a:pPr>
                      <a:r>
                        <a:t>+1-415-555-0102</a:t>
                      </a:r>
                    </a:p>
                  </a:txBody>
                  <a:tcPr>
                    <a:solidFill>
                      <a:srgbClr val="2328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Thakur, Sanjay</dc:creator>
  <keywords/>
  <dc:description>generated using python-pptx</dc:description>
  <lastModifiedBy>Thakur, Sanjay</lastModifiedBy>
  <revision>1</revision>
  <dcterms:created xsi:type="dcterms:W3CDTF">2026-06-02T06:14:39.6176860Z</dcterms:created>
  <dcterms:modified xsi:type="dcterms:W3CDTF">2026-06-02T06:14:39.6176860Z</dcterms:modified>
  <category/>
</coreProperties>
</file>